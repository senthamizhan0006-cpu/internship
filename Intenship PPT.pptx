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type="screen4x3" cy="6858000" cx="12191695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tableStyles" Target="tableStyles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7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888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889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890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891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89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3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83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83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3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47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4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84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5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6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6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86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6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68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69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7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87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7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7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7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7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7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7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87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8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3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83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4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8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8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8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88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8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1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52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853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8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58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5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86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6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42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4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84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4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F3A"/>
        </a:solidFill>
        <a:effectLst/>
      </p:bgPr>
    </p:bg>
    <p:spTree>
      <p:nvGrpSpPr>
        <p:cNvPr id="25" name=""/>
        <p:cNvGrpSpPr/>
        <p:nvPr/>
      </p:nvGrpSpPr>
      <p:grpSpPr>
        <a:xfrm/>
      </p:grpSpPr>
      <p:sp>
        <p:nvSpPr>
          <p:cNvPr id="1048584" name="Oval 1"/>
          <p:cNvSpPr/>
          <p:nvPr/>
        </p:nvSpPr>
        <p:spPr>
          <a:xfrm>
            <a:off x="8595360" y="1143000"/>
            <a:ext cx="1280160" cy="1280160"/>
          </a:xfrm>
          <a:prstGeom prst="ellipse"/>
          <a:solidFill>
            <a:srgbClr val="23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85" name="Oval 2"/>
          <p:cNvSpPr/>
          <p:nvPr/>
        </p:nvSpPr>
        <p:spPr>
          <a:xfrm>
            <a:off x="9509760" y="868680"/>
            <a:ext cx="1645920" cy="1645920"/>
          </a:xfrm>
          <a:prstGeom prst="ellipse"/>
          <a:solidFill>
            <a:srgbClr val="3D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86" name="Oval 3"/>
          <p:cNvSpPr/>
          <p:nvPr/>
        </p:nvSpPr>
        <p:spPr>
          <a:xfrm>
            <a:off x="10378440" y="1280160"/>
            <a:ext cx="1234440" cy="1234440"/>
          </a:xfrm>
          <a:prstGeom prst="ellipse"/>
          <a:solidFill>
            <a:srgbClr val="23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87" name="Oval 4"/>
          <p:cNvSpPr/>
          <p:nvPr/>
        </p:nvSpPr>
        <p:spPr>
          <a:xfrm>
            <a:off x="9144000" y="1508760"/>
            <a:ext cx="1645920" cy="1645920"/>
          </a:xfrm>
          <a:prstGeom prst="ellipse"/>
          <a:solidFill>
            <a:srgbClr val="2A5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88" name="TextBox 5"/>
          <p:cNvSpPr txBox="1"/>
          <p:nvPr/>
        </p:nvSpPr>
        <p:spPr>
          <a:xfrm>
            <a:off x="777240" y="1234440"/>
            <a:ext cx="7223760" cy="679705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3600">
                <a:solidFill>
                  <a:srgbClr val="FFFFFF"/>
                </a:solidFill>
                <a:latin typeface="Aptos"/>
              </a:defRPr>
            </a:pPr>
            <a:r>
              <a:t>CLOUD COMPUTING</a:t>
            </a:r>
          </a:p>
        </p:txBody>
      </p:sp>
      <p:sp>
        <p:nvSpPr>
          <p:cNvPr id="1048589" name="TextBox 6"/>
          <p:cNvSpPr txBox="1"/>
          <p:nvPr/>
        </p:nvSpPr>
        <p:spPr>
          <a:xfrm>
            <a:off x="822960" y="2057400"/>
            <a:ext cx="6949440" cy="457200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2000">
                <a:solidFill>
                  <a:srgbClr val="3DC4D2"/>
                </a:solidFill>
                <a:latin typeface="Aptos"/>
              </a:defRPr>
            </a:pPr>
            <a:r>
              <a:t>SUMMER INTERNSHIP PRESENTATION</a:t>
            </a:r>
          </a:p>
        </p:txBody>
      </p:sp>
      <p:sp>
        <p:nvSpPr>
          <p:cNvPr id="1048590" name="TextBox 7"/>
          <p:cNvSpPr txBox="1"/>
          <p:nvPr/>
        </p:nvSpPr>
        <p:spPr>
          <a:xfrm>
            <a:off x="822960" y="3063240"/>
            <a:ext cx="7498079" cy="1708404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600">
                <a:solidFill>
                  <a:srgbClr val="EBF4FC"/>
                </a:solidFill>
                <a:latin typeface="Aptos"/>
              </a:defRPr>
            </a:pPr>
            <a:r>
              <a:t>Presented by: SENTHAMIZHAN A</a:t>
            </a:r>
          </a:p>
          <a:p>
            <a:pPr>
              <a:spcAft>
                <a:spcPts val="700"/>
              </a:spcAft>
              <a:defRPr b="0" sz="1600">
                <a:solidFill>
                  <a:srgbClr val="EBF4FC"/>
                </a:solidFill>
                <a:latin typeface="Aptos"/>
              </a:defRPr>
            </a:pPr>
            <a:r>
              <a:t>Register No.: 810023205005</a:t>
            </a:r>
          </a:p>
          <a:p>
            <a:pPr>
              <a:spcAft>
                <a:spcPts val="700"/>
              </a:spcAft>
              <a:defRPr b="0" sz="1600">
                <a:solidFill>
                  <a:srgbClr val="EBF4FC"/>
                </a:solidFill>
                <a:latin typeface="Aptos"/>
              </a:defRPr>
            </a:pPr>
            <a:r>
              <a:t>Department of </a:t>
            </a:r>
            <a:r>
              <a:rPr altLang="ta--#Latn" lang="en-US"/>
              <a:t>I</a:t>
            </a:r>
            <a:r>
              <a:rPr altLang="ta--#Latn" lang="en-US"/>
              <a:t>n</a:t>
            </a:r>
            <a:r>
              <a:rPr altLang="ta--#Latn" lang="en-US"/>
              <a:t>f</a:t>
            </a:r>
            <a:r>
              <a:rPr altLang="ta--#Latn" lang="en-US"/>
              <a:t>ormation </a:t>
            </a:r>
            <a:r>
              <a:rPr altLang="ta--#Latn" lang="en-US"/>
              <a:t>T</a:t>
            </a:r>
            <a:r>
              <a:rPr altLang="ta--#Latn" lang="en-US"/>
              <a:t>echnology </a:t>
            </a:r>
            <a:endParaRPr altLang="en-US" lang="zh-CN"/>
          </a:p>
          <a:p>
            <a:pPr>
              <a:spcAft>
                <a:spcPts val="700"/>
              </a:spcAft>
              <a:defRPr b="0" sz="1600">
                <a:solidFill>
                  <a:srgbClr val="EBF4FC"/>
                </a:solidFill>
                <a:latin typeface="Aptos"/>
              </a:defRPr>
            </a:pPr>
            <a:r>
              <a:t>University College of Engineering, BIT Campus</a:t>
            </a:r>
          </a:p>
          <a:p>
            <a:pPr>
              <a:spcAft>
                <a:spcPts val="700"/>
              </a:spcAft>
              <a:defRPr b="0" sz="1600">
                <a:solidFill>
                  <a:srgbClr val="EBF4FC"/>
                </a:solidFill>
                <a:latin typeface="Aptos"/>
              </a:defRPr>
            </a:pPr>
            <a:r>
              <a:t>Anna University, Tiruchirappalli</a:t>
            </a:r>
          </a:p>
        </p:txBody>
      </p:sp>
      <p:sp>
        <p:nvSpPr>
          <p:cNvPr id="1048591" name="TextBox 8"/>
          <p:cNvSpPr txBox="1"/>
          <p:nvPr/>
        </p:nvSpPr>
        <p:spPr>
          <a:xfrm>
            <a:off x="822960" y="5715000"/>
            <a:ext cx="10607040" cy="336805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300">
                <a:solidFill>
                  <a:srgbClr val="BECFE2"/>
                </a:solidFill>
                <a:latin typeface="Aptos"/>
              </a:defRPr>
            </a:pPr>
            <a:r>
              <a:t>Internship Organization: Fantasy Solution, Trichy  |  Duration: 30 Days</a:t>
            </a:r>
          </a:p>
        </p:txBody>
      </p:sp>
      <p:sp>
        <p:nvSpPr>
          <p:cNvPr id="1048592" name="TextBox 9"/>
          <p:cNvSpPr txBox="1"/>
          <p:nvPr/>
        </p:nvSpPr>
        <p:spPr>
          <a:xfrm>
            <a:off x="621792" y="6510528"/>
            <a:ext cx="10972800" cy="260604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800">
                <a:solidFill>
                  <a:srgbClr val="BECFE2"/>
                </a:solidFill>
                <a:latin typeface="Aptos"/>
              </a:defRPr>
            </a:pPr>
            <a:r>
              <a:t>CLOUD COMPUTING  •  SUMMER INTERNSHIP                                   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36" name=""/>
        <p:cNvGrpSpPr/>
        <p:nvPr/>
      </p:nvGrpSpPr>
      <p:grpSpPr>
        <a:xfrm/>
      </p:grpSpPr>
      <p:sp>
        <p:nvSpPr>
          <p:cNvPr id="1048593" name="TextBox 1"/>
          <p:cNvSpPr txBox="1"/>
          <p:nvPr/>
        </p:nvSpPr>
        <p:spPr>
          <a:xfrm>
            <a:off x="594360" y="320040"/>
            <a:ext cx="10972800" cy="548640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2800">
                <a:solidFill>
                  <a:srgbClr val="0E1F3A"/>
                </a:solidFill>
                <a:latin typeface="Aptos"/>
              </a:defRPr>
            </a:pPr>
            <a:r>
              <a:t>Internship Overview</a:t>
            </a:r>
          </a:p>
        </p:txBody>
      </p:sp>
      <p:sp>
        <p:nvSpPr>
          <p:cNvPr id="1048594" name="Rectangle 2"/>
          <p:cNvSpPr/>
          <p:nvPr/>
        </p:nvSpPr>
        <p:spPr>
          <a:xfrm>
            <a:off x="621792" y="987552"/>
            <a:ext cx="1051560" cy="50292"/>
          </a:xfrm>
          <a:prstGeom prst="rect"/>
          <a:solidFill>
            <a:srgbClr val="3D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5" name="TextBox 3"/>
          <p:cNvSpPr txBox="1"/>
          <p:nvPr/>
        </p:nvSpPr>
        <p:spPr>
          <a:xfrm>
            <a:off x="621792" y="1078992"/>
            <a:ext cx="10881360" cy="324105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A 30-day learning journey from cloud fundamentals to cloud-native design</a:t>
            </a:r>
          </a:p>
        </p:txBody>
      </p:sp>
      <p:sp>
        <p:nvSpPr>
          <p:cNvPr id="1048596" name="TextBox 4"/>
          <p:cNvSpPr txBox="1"/>
          <p:nvPr/>
        </p:nvSpPr>
        <p:spPr>
          <a:xfrm>
            <a:off x="621792" y="6510528"/>
            <a:ext cx="10972800" cy="260604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800">
                <a:solidFill>
                  <a:srgbClr val="5B6C80"/>
                </a:solidFill>
                <a:latin typeface="Aptos"/>
              </a:defRPr>
            </a:pPr>
            <a:r>
              <a:t>CLOUD COMPUTING  •  SUMMER INTERNSHIP                                      02</a:t>
            </a:r>
          </a:p>
        </p:txBody>
      </p:sp>
      <p:sp>
        <p:nvSpPr>
          <p:cNvPr id="1048597" name="Rounded Rectangle 5"/>
          <p:cNvSpPr/>
          <p:nvPr/>
        </p:nvSpPr>
        <p:spPr>
          <a:xfrm>
            <a:off x="731520" y="1737360"/>
            <a:ext cx="3429000" cy="1417320"/>
          </a:xfrm>
          <a:prstGeom prst="roundRect"/>
          <a:solidFill>
            <a:srgbClr val="FFFFFF"/>
          </a:solidFill>
          <a:ln>
            <a:solidFill>
              <a:srgbClr val="D2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8" name="Rectangle 6"/>
          <p:cNvSpPr/>
          <p:nvPr/>
        </p:nvSpPr>
        <p:spPr>
          <a:xfrm>
            <a:off x="731520" y="1737360"/>
            <a:ext cx="82296" cy="1417320"/>
          </a:xfrm>
          <a:prstGeom prst="rect"/>
          <a:solidFill>
            <a:srgbClr val="23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9" name="TextBox 7"/>
          <p:cNvSpPr txBox="1"/>
          <p:nvPr/>
        </p:nvSpPr>
        <p:spPr>
          <a:xfrm>
            <a:off x="932688" y="1883664"/>
            <a:ext cx="3081528" cy="400304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1700">
                <a:solidFill>
                  <a:srgbClr val="0E1F3A"/>
                </a:solidFill>
                <a:latin typeface="Aptos"/>
              </a:defRPr>
            </a:pPr>
            <a:r>
              <a:t>Organization</a:t>
            </a:r>
          </a:p>
        </p:txBody>
      </p:sp>
      <p:sp>
        <p:nvSpPr>
          <p:cNvPr id="1048600" name="TextBox 8"/>
          <p:cNvSpPr txBox="1"/>
          <p:nvPr/>
        </p:nvSpPr>
        <p:spPr>
          <a:xfrm>
            <a:off x="932688" y="2304288"/>
            <a:ext cx="3063240" cy="324105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Fantasy Solution, Trichy</a:t>
            </a:r>
          </a:p>
        </p:txBody>
      </p:sp>
      <p:sp>
        <p:nvSpPr>
          <p:cNvPr id="1048601" name="Rounded Rectangle 9"/>
          <p:cNvSpPr/>
          <p:nvPr/>
        </p:nvSpPr>
        <p:spPr>
          <a:xfrm>
            <a:off x="4389120" y="1737360"/>
            <a:ext cx="3429000" cy="1417320"/>
          </a:xfrm>
          <a:prstGeom prst="roundRect"/>
          <a:solidFill>
            <a:srgbClr val="FFFFFF"/>
          </a:solidFill>
          <a:ln>
            <a:solidFill>
              <a:srgbClr val="D2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2" name="Rectangle 10"/>
          <p:cNvSpPr/>
          <p:nvPr/>
        </p:nvSpPr>
        <p:spPr>
          <a:xfrm>
            <a:off x="4389120" y="1737360"/>
            <a:ext cx="82296" cy="1417320"/>
          </a:xfrm>
          <a:prstGeom prst="rect"/>
          <a:solidFill>
            <a:srgbClr val="3D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3" name="TextBox 11"/>
          <p:cNvSpPr txBox="1"/>
          <p:nvPr/>
        </p:nvSpPr>
        <p:spPr>
          <a:xfrm>
            <a:off x="4590288" y="1883664"/>
            <a:ext cx="3081528" cy="400304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1700">
                <a:solidFill>
                  <a:srgbClr val="0E1F3A"/>
                </a:solidFill>
                <a:latin typeface="Aptos"/>
              </a:defRPr>
            </a:pPr>
            <a:r>
              <a:t>Duration</a:t>
            </a:r>
          </a:p>
        </p:txBody>
      </p:sp>
      <p:sp>
        <p:nvSpPr>
          <p:cNvPr id="1048604" name="TextBox 12"/>
          <p:cNvSpPr txBox="1"/>
          <p:nvPr/>
        </p:nvSpPr>
        <p:spPr>
          <a:xfrm>
            <a:off x="4590288" y="2304288"/>
            <a:ext cx="3063240" cy="324105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30-day Cloud Computing internship</a:t>
            </a:r>
          </a:p>
        </p:txBody>
      </p:sp>
      <p:sp>
        <p:nvSpPr>
          <p:cNvPr id="1048605" name="Rounded Rectangle 13"/>
          <p:cNvSpPr/>
          <p:nvPr/>
        </p:nvSpPr>
        <p:spPr>
          <a:xfrm>
            <a:off x="8046720" y="1737360"/>
            <a:ext cx="3429000" cy="1417320"/>
          </a:xfrm>
          <a:prstGeom prst="roundRect"/>
          <a:solidFill>
            <a:srgbClr val="FFFFFF"/>
          </a:solidFill>
          <a:ln>
            <a:solidFill>
              <a:srgbClr val="D2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6" name="Rectangle 14"/>
          <p:cNvSpPr/>
          <p:nvPr/>
        </p:nvSpPr>
        <p:spPr>
          <a:xfrm>
            <a:off x="8046720" y="1737360"/>
            <a:ext cx="82296" cy="1417320"/>
          </a:xfrm>
          <a:prstGeom prst="rect"/>
          <a:solidFill>
            <a:srgbClr val="27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7" name="TextBox 15"/>
          <p:cNvSpPr txBox="1"/>
          <p:nvPr/>
        </p:nvSpPr>
        <p:spPr>
          <a:xfrm>
            <a:off x="8247888" y="1883664"/>
            <a:ext cx="3081528" cy="400304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1700">
                <a:solidFill>
                  <a:srgbClr val="0E1F3A"/>
                </a:solidFill>
                <a:latin typeface="Aptos"/>
              </a:defRPr>
            </a:pPr>
            <a:r>
              <a:t>Core Focus</a:t>
            </a:r>
          </a:p>
        </p:txBody>
      </p:sp>
      <p:sp>
        <p:nvSpPr>
          <p:cNvPr id="1048608" name="TextBox 16"/>
          <p:cNvSpPr txBox="1"/>
          <p:nvPr/>
        </p:nvSpPr>
        <p:spPr>
          <a:xfrm>
            <a:off x="8247888" y="2304288"/>
            <a:ext cx="3063240" cy="501905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Cloud services, security, automation and architecture</a:t>
            </a:r>
          </a:p>
        </p:txBody>
      </p:sp>
      <p:sp>
        <p:nvSpPr>
          <p:cNvPr id="1048609" name="TextBox 17"/>
          <p:cNvSpPr txBox="1"/>
          <p:nvPr/>
        </p:nvSpPr>
        <p:spPr>
          <a:xfrm>
            <a:off x="914400" y="3657600"/>
            <a:ext cx="10332720" cy="1200404"/>
          </a:xfrm>
          <a:prstGeom prst="rect"/>
          <a:noFill/>
        </p:spPr>
        <p:txBody>
          <a:bodyPr bIns="73152" tIns="73152" wrap="square">
            <a:spAutoFit/>
          </a:bodyPr>
          <a:p>
            <a:pPr>
              <a:spcAft>
                <a:spcPts val="1000"/>
              </a:spcAft>
              <a:defRPr sz="1800">
                <a:solidFill>
                  <a:srgbClr val="263345"/>
                </a:solidFill>
                <a:latin typeface="Aptos"/>
              </a:defRPr>
            </a:pPr>
            <a:r>
              <a:t>Studied cloud platforms: AWS, Microsoft Azure and Google Cloud.</a:t>
            </a:r>
          </a:p>
          <a:p>
            <a:pPr>
              <a:spcAft>
                <a:spcPts val="1000"/>
              </a:spcAft>
              <a:defRPr sz="1800">
                <a:solidFill>
                  <a:srgbClr val="263345"/>
                </a:solidFill>
                <a:latin typeface="Aptos"/>
              </a:defRPr>
            </a:pPr>
            <a:r>
              <a:t>Explored compute, storage, networking, security, DevOps and serverless services.</a:t>
            </a:r>
          </a:p>
          <a:p>
            <a:pPr>
              <a:spcAft>
                <a:spcPts val="1000"/>
              </a:spcAft>
              <a:defRPr sz="1800">
                <a:solidFill>
                  <a:srgbClr val="263345"/>
                </a:solidFill>
                <a:latin typeface="Aptos"/>
              </a:defRPr>
            </a:pPr>
            <a:r>
              <a:t>Completed a mini-project and a capstone architecture design.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37" name=""/>
        <p:cNvGrpSpPr/>
        <p:nvPr/>
      </p:nvGrpSpPr>
      <p:grpSpPr>
        <a:xfrm/>
      </p:grpSpPr>
      <p:sp>
        <p:nvSpPr>
          <p:cNvPr id="1048610" name="TextBox 1"/>
          <p:cNvSpPr txBox="1"/>
          <p:nvPr/>
        </p:nvSpPr>
        <p:spPr>
          <a:xfrm>
            <a:off x="594360" y="320040"/>
            <a:ext cx="10972800" cy="548640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2800">
                <a:solidFill>
                  <a:srgbClr val="0E1F3A"/>
                </a:solidFill>
                <a:latin typeface="Aptos"/>
              </a:defRPr>
            </a:pPr>
            <a:r>
              <a:t>About Fantasy Solution</a:t>
            </a:r>
          </a:p>
        </p:txBody>
      </p:sp>
      <p:sp>
        <p:nvSpPr>
          <p:cNvPr id="1048611" name="Rectangle 2"/>
          <p:cNvSpPr/>
          <p:nvPr/>
        </p:nvSpPr>
        <p:spPr>
          <a:xfrm>
            <a:off x="621792" y="987552"/>
            <a:ext cx="1051560" cy="50292"/>
          </a:xfrm>
          <a:prstGeom prst="rect"/>
          <a:solidFill>
            <a:srgbClr val="3D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2" name="TextBox 3"/>
          <p:cNvSpPr txBox="1"/>
          <p:nvPr/>
        </p:nvSpPr>
        <p:spPr>
          <a:xfrm>
            <a:off x="621792" y="1078992"/>
            <a:ext cx="10881360" cy="324105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IT solutions and software services provider</a:t>
            </a:r>
          </a:p>
        </p:txBody>
      </p:sp>
      <p:sp>
        <p:nvSpPr>
          <p:cNvPr id="1048613" name="TextBox 4"/>
          <p:cNvSpPr txBox="1"/>
          <p:nvPr/>
        </p:nvSpPr>
        <p:spPr>
          <a:xfrm>
            <a:off x="621792" y="6510528"/>
            <a:ext cx="10972800" cy="260604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800">
                <a:solidFill>
                  <a:srgbClr val="5B6C80"/>
                </a:solidFill>
                <a:latin typeface="Aptos"/>
              </a:defRPr>
            </a:pPr>
            <a:r>
              <a:t>CLOUD COMPUTING  •  SUMMER INTERNSHIP                                      03</a:t>
            </a:r>
          </a:p>
        </p:txBody>
      </p:sp>
      <p:sp>
        <p:nvSpPr>
          <p:cNvPr id="1048614" name="TextBox 5"/>
          <p:cNvSpPr txBox="1"/>
          <p:nvPr/>
        </p:nvSpPr>
        <p:spPr>
          <a:xfrm>
            <a:off x="777240" y="1691640"/>
            <a:ext cx="10789920" cy="2432305"/>
          </a:xfrm>
          <a:prstGeom prst="rect"/>
          <a:noFill/>
        </p:spPr>
        <p:txBody>
          <a:bodyPr bIns="73152" tIns="73152" wrap="square">
            <a:spAutoFit/>
          </a:bodyPr>
          <a:p>
            <a:pPr>
              <a:spcAft>
                <a:spcPts val="1400"/>
              </a:spcAft>
              <a:defRPr sz="1900">
                <a:solidFill>
                  <a:srgbClr val="263345"/>
                </a:solidFill>
                <a:latin typeface="Aptos"/>
              </a:defRPr>
            </a:pPr>
            <a:r>
              <a:t>Location: Melapudur, Trichy, Tamil Nadu.</a:t>
            </a:r>
          </a:p>
          <a:p>
            <a:pPr>
              <a:spcAft>
                <a:spcPts val="1400"/>
              </a:spcAft>
              <a:defRPr sz="1900">
                <a:solidFill>
                  <a:srgbClr val="263345"/>
                </a:solidFill>
                <a:latin typeface="Aptos"/>
              </a:defRPr>
            </a:pPr>
            <a:r>
              <a:t>Services described in the report include software development, web design and hosting, mobile applications, IT infrastructure, testing and training.</a:t>
            </a:r>
          </a:p>
          <a:p>
            <a:pPr>
              <a:spcAft>
                <a:spcPts val="1400"/>
              </a:spcAft>
              <a:defRPr sz="1900">
                <a:solidFill>
                  <a:srgbClr val="263345"/>
                </a:solidFill>
                <a:latin typeface="Aptos"/>
              </a:defRPr>
            </a:pPr>
            <a:r>
              <a:t>The company profile highlights consulting, application development and technology-enabled business solutions.</a:t>
            </a:r>
          </a:p>
          <a:p>
            <a:pPr>
              <a:spcAft>
                <a:spcPts val="1400"/>
              </a:spcAft>
              <a:defRPr sz="1900">
                <a:solidFill>
                  <a:srgbClr val="263345"/>
                </a:solidFill>
                <a:latin typeface="Aptos"/>
              </a:defRPr>
            </a:pPr>
            <a:r>
              <a:t>The report states the company motto as “Beyond Technology”.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38" name=""/>
        <p:cNvGrpSpPr/>
        <p:nvPr/>
      </p:nvGrpSpPr>
      <p:grpSpPr>
        <a:xfrm/>
      </p:grpSpPr>
      <p:sp>
        <p:nvSpPr>
          <p:cNvPr id="1048615" name="TextBox 1"/>
          <p:cNvSpPr txBox="1"/>
          <p:nvPr/>
        </p:nvSpPr>
        <p:spPr>
          <a:xfrm>
            <a:off x="594360" y="320040"/>
            <a:ext cx="10972800" cy="548640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2800">
                <a:solidFill>
                  <a:srgbClr val="0E1F3A"/>
                </a:solidFill>
                <a:latin typeface="Aptos"/>
              </a:defRPr>
            </a:pPr>
            <a:r>
              <a:t>Internship Objectives</a:t>
            </a:r>
          </a:p>
        </p:txBody>
      </p:sp>
      <p:sp>
        <p:nvSpPr>
          <p:cNvPr id="1048616" name="Rectangle 2"/>
          <p:cNvSpPr/>
          <p:nvPr/>
        </p:nvSpPr>
        <p:spPr>
          <a:xfrm>
            <a:off x="621792" y="987552"/>
            <a:ext cx="1051560" cy="50292"/>
          </a:xfrm>
          <a:prstGeom prst="rect"/>
          <a:solidFill>
            <a:srgbClr val="3D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7" name="TextBox 3"/>
          <p:cNvSpPr txBox="1"/>
          <p:nvPr/>
        </p:nvSpPr>
        <p:spPr>
          <a:xfrm>
            <a:off x="621792" y="1078992"/>
            <a:ext cx="10881360" cy="324105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What the training aimed to develop</a:t>
            </a:r>
          </a:p>
        </p:txBody>
      </p:sp>
      <p:sp>
        <p:nvSpPr>
          <p:cNvPr id="1048618" name="TextBox 4"/>
          <p:cNvSpPr txBox="1"/>
          <p:nvPr/>
        </p:nvSpPr>
        <p:spPr>
          <a:xfrm>
            <a:off x="621792" y="6510528"/>
            <a:ext cx="10972800" cy="260604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800">
                <a:solidFill>
                  <a:srgbClr val="5B6C80"/>
                </a:solidFill>
                <a:latin typeface="Aptos"/>
              </a:defRPr>
            </a:pPr>
            <a:r>
              <a:t>CLOUD COMPUTING  •  SUMMER INTERNSHIP                                      04</a:t>
            </a:r>
          </a:p>
        </p:txBody>
      </p:sp>
      <p:sp>
        <p:nvSpPr>
          <p:cNvPr id="1048619" name="Rounded Rectangle 5"/>
          <p:cNvSpPr/>
          <p:nvPr/>
        </p:nvSpPr>
        <p:spPr>
          <a:xfrm>
            <a:off x="777240" y="1737360"/>
            <a:ext cx="3474720" cy="1554480"/>
          </a:xfrm>
          <a:prstGeom prst="roundRect"/>
          <a:solidFill>
            <a:srgbClr val="FFFFFF"/>
          </a:solidFill>
          <a:ln>
            <a:solidFill>
              <a:srgbClr val="D2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0" name="Rectangle 6"/>
          <p:cNvSpPr/>
          <p:nvPr/>
        </p:nvSpPr>
        <p:spPr>
          <a:xfrm>
            <a:off x="777240" y="1737360"/>
            <a:ext cx="82296" cy="1554480"/>
          </a:xfrm>
          <a:prstGeom prst="rect"/>
          <a:solidFill>
            <a:srgbClr val="23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1" name="TextBox 7"/>
          <p:cNvSpPr txBox="1"/>
          <p:nvPr/>
        </p:nvSpPr>
        <p:spPr>
          <a:xfrm>
            <a:off x="978408" y="1883664"/>
            <a:ext cx="3127248" cy="400304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1700">
                <a:solidFill>
                  <a:srgbClr val="0E1F3A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1048622" name="TextBox 8"/>
          <p:cNvSpPr txBox="1"/>
          <p:nvPr/>
        </p:nvSpPr>
        <p:spPr>
          <a:xfrm>
            <a:off x="978408" y="2304288"/>
            <a:ext cx="3108960" cy="501905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Learn cloud service models, deployment models and virtualization.</a:t>
            </a:r>
          </a:p>
        </p:txBody>
      </p:sp>
      <p:sp>
        <p:nvSpPr>
          <p:cNvPr id="1048623" name="Rounded Rectangle 9"/>
          <p:cNvSpPr/>
          <p:nvPr/>
        </p:nvSpPr>
        <p:spPr>
          <a:xfrm>
            <a:off x="4389120" y="1737360"/>
            <a:ext cx="3474720" cy="1554480"/>
          </a:xfrm>
          <a:prstGeom prst="roundRect"/>
          <a:solidFill>
            <a:srgbClr val="FFFFFF"/>
          </a:solidFill>
          <a:ln>
            <a:solidFill>
              <a:srgbClr val="D2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4" name="Rectangle 10"/>
          <p:cNvSpPr/>
          <p:nvPr/>
        </p:nvSpPr>
        <p:spPr>
          <a:xfrm>
            <a:off x="4389120" y="1737360"/>
            <a:ext cx="82296" cy="1554480"/>
          </a:xfrm>
          <a:prstGeom prst="rect"/>
          <a:solidFill>
            <a:srgbClr val="3D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5" name="TextBox 11"/>
          <p:cNvSpPr txBox="1"/>
          <p:nvPr/>
        </p:nvSpPr>
        <p:spPr>
          <a:xfrm>
            <a:off x="4590288" y="1883664"/>
            <a:ext cx="3127248" cy="400304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1700">
                <a:solidFill>
                  <a:srgbClr val="0E1F3A"/>
                </a:solidFill>
                <a:latin typeface="Aptos"/>
              </a:defRPr>
            </a:pPr>
            <a:r>
              <a:t>Practice</a:t>
            </a:r>
          </a:p>
        </p:txBody>
      </p:sp>
      <p:sp>
        <p:nvSpPr>
          <p:cNvPr id="1048626" name="TextBox 12"/>
          <p:cNvSpPr txBox="1"/>
          <p:nvPr/>
        </p:nvSpPr>
        <p:spPr>
          <a:xfrm>
            <a:off x="4590288" y="2304288"/>
            <a:ext cx="3108960" cy="501905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Explore cloud compute, storage, networks, identity and security.</a:t>
            </a:r>
          </a:p>
        </p:txBody>
      </p:sp>
      <p:sp>
        <p:nvSpPr>
          <p:cNvPr id="1048627" name="Rounded Rectangle 13"/>
          <p:cNvSpPr/>
          <p:nvPr/>
        </p:nvSpPr>
        <p:spPr>
          <a:xfrm>
            <a:off x="8001000" y="1737360"/>
            <a:ext cx="3474720" cy="1554480"/>
          </a:xfrm>
          <a:prstGeom prst="roundRect"/>
          <a:solidFill>
            <a:srgbClr val="FFFFFF"/>
          </a:solidFill>
          <a:ln>
            <a:solidFill>
              <a:srgbClr val="D2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8" name="Rectangle 14"/>
          <p:cNvSpPr/>
          <p:nvPr/>
        </p:nvSpPr>
        <p:spPr>
          <a:xfrm>
            <a:off x="8001000" y="1737360"/>
            <a:ext cx="82296" cy="1554480"/>
          </a:xfrm>
          <a:prstGeom prst="rect"/>
          <a:solidFill>
            <a:srgbClr val="27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9" name="TextBox 15"/>
          <p:cNvSpPr txBox="1"/>
          <p:nvPr/>
        </p:nvSpPr>
        <p:spPr>
          <a:xfrm>
            <a:off x="8202168" y="1883664"/>
            <a:ext cx="3127248" cy="400304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1700">
                <a:solidFill>
                  <a:srgbClr val="0E1F3A"/>
                </a:solidFill>
                <a:latin typeface="Aptos"/>
              </a:defRPr>
            </a:pPr>
            <a:r>
              <a:t>Integrate</a:t>
            </a:r>
          </a:p>
        </p:txBody>
      </p:sp>
      <p:sp>
        <p:nvSpPr>
          <p:cNvPr id="1048630" name="TextBox 16"/>
          <p:cNvSpPr txBox="1"/>
          <p:nvPr/>
        </p:nvSpPr>
        <p:spPr>
          <a:xfrm>
            <a:off x="8202168" y="2304288"/>
            <a:ext cx="3108960" cy="501905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Combine cloud services into scalable, secure and cost-aware designs.</a:t>
            </a:r>
          </a:p>
        </p:txBody>
      </p:sp>
      <p:sp>
        <p:nvSpPr>
          <p:cNvPr id="1048631" name="TextBox 17"/>
          <p:cNvSpPr txBox="1"/>
          <p:nvPr/>
        </p:nvSpPr>
        <p:spPr>
          <a:xfrm>
            <a:off x="914400" y="3977639"/>
            <a:ext cx="10332720" cy="832104"/>
          </a:xfrm>
          <a:prstGeom prst="rect"/>
          <a:noFill/>
        </p:spPr>
        <p:txBody>
          <a:bodyPr bIns="73152" tIns="73152" wrap="square">
            <a:spAutoFit/>
          </a:bodyPr>
          <a:p>
            <a:pPr>
              <a:spcAft>
                <a:spcPts val="1200"/>
              </a:spcAft>
              <a:defRPr sz="1800">
                <a:solidFill>
                  <a:srgbClr val="263345"/>
                </a:solidFill>
                <a:latin typeface="Aptos"/>
              </a:defRPr>
            </a:pPr>
            <a:r>
              <a:t>Build familiarity with leading cloud providers and their equivalent services.</a:t>
            </a:r>
          </a:p>
          <a:p>
            <a:pPr>
              <a:spcAft>
                <a:spcPts val="1200"/>
              </a:spcAft>
              <a:defRPr sz="1800">
                <a:solidFill>
                  <a:srgbClr val="263345"/>
                </a:solidFill>
                <a:latin typeface="Aptos"/>
              </a:defRPr>
            </a:pPr>
            <a:r>
              <a:t>Learn operational practices such as monitoring, cost control and disaster recovery.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39" name=""/>
        <p:cNvGrpSpPr/>
        <p:nvPr/>
      </p:nvGrpSpPr>
      <p:grpSpPr>
        <a:xfrm/>
      </p:grpSpPr>
      <p:sp>
        <p:nvSpPr>
          <p:cNvPr id="1048632" name="TextBox 1"/>
          <p:cNvSpPr txBox="1"/>
          <p:nvPr/>
        </p:nvSpPr>
        <p:spPr>
          <a:xfrm>
            <a:off x="594360" y="320040"/>
            <a:ext cx="10972800" cy="548640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2800">
                <a:solidFill>
                  <a:srgbClr val="0E1F3A"/>
                </a:solidFill>
                <a:latin typeface="Aptos"/>
              </a:defRPr>
            </a:pPr>
            <a:r>
              <a:t>Cloud Computing Fundamentals</a:t>
            </a:r>
          </a:p>
        </p:txBody>
      </p:sp>
      <p:sp>
        <p:nvSpPr>
          <p:cNvPr id="1048633" name="Rectangle 2"/>
          <p:cNvSpPr/>
          <p:nvPr/>
        </p:nvSpPr>
        <p:spPr>
          <a:xfrm>
            <a:off x="621792" y="987552"/>
            <a:ext cx="1051560" cy="50292"/>
          </a:xfrm>
          <a:prstGeom prst="rect"/>
          <a:solidFill>
            <a:srgbClr val="3D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4" name="TextBox 3"/>
          <p:cNvSpPr txBox="1"/>
          <p:nvPr/>
        </p:nvSpPr>
        <p:spPr>
          <a:xfrm>
            <a:off x="621792" y="1078992"/>
            <a:ext cx="10881360" cy="324105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On-demand access to computing resources over a network</a:t>
            </a:r>
          </a:p>
        </p:txBody>
      </p:sp>
      <p:sp>
        <p:nvSpPr>
          <p:cNvPr id="1048635" name="TextBox 4"/>
          <p:cNvSpPr txBox="1"/>
          <p:nvPr/>
        </p:nvSpPr>
        <p:spPr>
          <a:xfrm>
            <a:off x="621792" y="6510528"/>
            <a:ext cx="10972800" cy="260604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800">
                <a:solidFill>
                  <a:srgbClr val="5B6C80"/>
                </a:solidFill>
                <a:latin typeface="Aptos"/>
              </a:defRPr>
            </a:pPr>
            <a:r>
              <a:t>CLOUD COMPUTING  •  SUMMER INTERNSHIP                                      05</a:t>
            </a:r>
          </a:p>
        </p:txBody>
      </p:sp>
      <p:sp>
        <p:nvSpPr>
          <p:cNvPr id="1048636" name="TextBox 5"/>
          <p:cNvSpPr txBox="1"/>
          <p:nvPr/>
        </p:nvSpPr>
        <p:spPr>
          <a:xfrm>
            <a:off x="777240" y="1691640"/>
            <a:ext cx="10789920" cy="2394205"/>
          </a:xfrm>
          <a:prstGeom prst="rect"/>
          <a:noFill/>
        </p:spPr>
        <p:txBody>
          <a:bodyPr bIns="73152" tIns="73152" wrap="square">
            <a:spAutoFit/>
          </a:bodyPr>
          <a:p>
            <a:pPr>
              <a:spcAft>
                <a:spcPts val="1300"/>
              </a:spcAft>
              <a:defRPr sz="1900">
                <a:solidFill>
                  <a:srgbClr val="263345"/>
                </a:solidFill>
                <a:latin typeface="Aptos"/>
              </a:defRPr>
            </a:pPr>
            <a:r>
              <a:t>Cloud platforms provide computing, storage, databases and networking on demand.</a:t>
            </a:r>
          </a:p>
          <a:p>
            <a:pPr>
              <a:spcAft>
                <a:spcPts val="1300"/>
              </a:spcAft>
              <a:defRPr sz="1900">
                <a:solidFill>
                  <a:srgbClr val="263345"/>
                </a:solidFill>
                <a:latin typeface="Aptos"/>
              </a:defRPr>
            </a:pPr>
            <a:r>
              <a:t>Resources can be provisioned or scaled without purchasing and maintaining all physical infrastructure.</a:t>
            </a:r>
          </a:p>
          <a:p>
            <a:pPr>
              <a:spcAft>
                <a:spcPts val="1300"/>
              </a:spcAft>
              <a:defRPr sz="1900">
                <a:solidFill>
                  <a:srgbClr val="263345"/>
                </a:solidFill>
                <a:latin typeface="Aptos"/>
              </a:defRPr>
            </a:pPr>
            <a:r>
              <a:t>Virtualization enables multiple isolated virtual machines to share physical hardware.</a:t>
            </a:r>
          </a:p>
          <a:p>
            <a:pPr>
              <a:spcAft>
                <a:spcPts val="1300"/>
              </a:spcAft>
              <a:defRPr sz="1900">
                <a:solidFill>
                  <a:srgbClr val="263345"/>
                </a:solidFill>
                <a:latin typeface="Aptos"/>
              </a:defRPr>
            </a:pPr>
            <a:r>
              <a:t>Cloud architecture commonly combines regions, availability zones, compute, storage, networking, identity and monitoring.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40" name=""/>
        <p:cNvGrpSpPr/>
        <p:nvPr/>
      </p:nvGrpSpPr>
      <p:grpSpPr>
        <a:xfrm/>
      </p:grpSpPr>
      <p:sp>
        <p:nvSpPr>
          <p:cNvPr id="1048637" name="TextBox 1"/>
          <p:cNvSpPr txBox="1"/>
          <p:nvPr/>
        </p:nvSpPr>
        <p:spPr>
          <a:xfrm>
            <a:off x="594360" y="320040"/>
            <a:ext cx="10972800" cy="548640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2800">
                <a:solidFill>
                  <a:srgbClr val="0E1F3A"/>
                </a:solidFill>
                <a:latin typeface="Aptos"/>
              </a:defRPr>
            </a:pPr>
            <a:r>
              <a:t>Cloud Service Models</a:t>
            </a:r>
          </a:p>
        </p:txBody>
      </p:sp>
      <p:sp>
        <p:nvSpPr>
          <p:cNvPr id="1048638" name="Rectangle 2"/>
          <p:cNvSpPr/>
          <p:nvPr/>
        </p:nvSpPr>
        <p:spPr>
          <a:xfrm>
            <a:off x="621792" y="987552"/>
            <a:ext cx="1051560" cy="50292"/>
          </a:xfrm>
          <a:prstGeom prst="rect"/>
          <a:solidFill>
            <a:srgbClr val="3D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9" name="TextBox 3"/>
          <p:cNvSpPr txBox="1"/>
          <p:nvPr/>
        </p:nvSpPr>
        <p:spPr>
          <a:xfrm>
            <a:off x="621792" y="1078992"/>
            <a:ext cx="10881360" cy="324105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Different levels of management and control</a:t>
            </a:r>
          </a:p>
        </p:txBody>
      </p:sp>
      <p:sp>
        <p:nvSpPr>
          <p:cNvPr id="1048640" name="TextBox 4"/>
          <p:cNvSpPr txBox="1"/>
          <p:nvPr/>
        </p:nvSpPr>
        <p:spPr>
          <a:xfrm>
            <a:off x="621792" y="6510528"/>
            <a:ext cx="10972800" cy="260604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800">
                <a:solidFill>
                  <a:srgbClr val="5B6C80"/>
                </a:solidFill>
                <a:latin typeface="Aptos"/>
              </a:defRPr>
            </a:pPr>
            <a:r>
              <a:t>CLOUD COMPUTING  •  SUMMER INTERNSHIP                                      06</a:t>
            </a:r>
          </a:p>
        </p:txBody>
      </p:sp>
      <p:sp>
        <p:nvSpPr>
          <p:cNvPr id="1048641" name="Rounded Rectangle 5"/>
          <p:cNvSpPr/>
          <p:nvPr/>
        </p:nvSpPr>
        <p:spPr>
          <a:xfrm>
            <a:off x="731520" y="1828800"/>
            <a:ext cx="3474720" cy="2331720"/>
          </a:xfrm>
          <a:prstGeom prst="roundRect"/>
          <a:solidFill>
            <a:srgbClr val="FFFFFF"/>
          </a:solidFill>
          <a:ln>
            <a:solidFill>
              <a:srgbClr val="D2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2" name="Rectangle 6"/>
          <p:cNvSpPr/>
          <p:nvPr/>
        </p:nvSpPr>
        <p:spPr>
          <a:xfrm>
            <a:off x="731520" y="1828800"/>
            <a:ext cx="82296" cy="2331720"/>
          </a:xfrm>
          <a:prstGeom prst="rect"/>
          <a:solidFill>
            <a:srgbClr val="23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3" name="TextBox 7"/>
          <p:cNvSpPr txBox="1"/>
          <p:nvPr/>
        </p:nvSpPr>
        <p:spPr>
          <a:xfrm>
            <a:off x="932688" y="1975104"/>
            <a:ext cx="3127248" cy="654304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1700">
                <a:solidFill>
                  <a:srgbClr val="0E1F3A"/>
                </a:solidFill>
                <a:latin typeface="Aptos"/>
              </a:defRPr>
            </a:pPr>
            <a:r>
              <a:t>IaaS — Infrastructure as a Service</a:t>
            </a:r>
          </a:p>
        </p:txBody>
      </p:sp>
      <p:sp>
        <p:nvSpPr>
          <p:cNvPr id="1048644" name="TextBox 8"/>
          <p:cNvSpPr txBox="1"/>
          <p:nvPr/>
        </p:nvSpPr>
        <p:spPr>
          <a:xfrm>
            <a:off x="932688" y="2537460"/>
            <a:ext cx="3189545" cy="679704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Provider supplies virtual servers, storage and networks. Customer manages the OS and applications.</a:t>
            </a:r>
          </a:p>
        </p:txBody>
      </p:sp>
      <p:sp>
        <p:nvSpPr>
          <p:cNvPr id="1048645" name="Rounded Rectangle 9"/>
          <p:cNvSpPr/>
          <p:nvPr/>
        </p:nvSpPr>
        <p:spPr>
          <a:xfrm>
            <a:off x="4389120" y="1828800"/>
            <a:ext cx="3474720" cy="2331720"/>
          </a:xfrm>
          <a:prstGeom prst="roundRect"/>
          <a:solidFill>
            <a:srgbClr val="FFFFFF"/>
          </a:solidFill>
          <a:ln>
            <a:solidFill>
              <a:srgbClr val="D2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6" name="Rectangle 10"/>
          <p:cNvSpPr/>
          <p:nvPr/>
        </p:nvSpPr>
        <p:spPr>
          <a:xfrm>
            <a:off x="4389120" y="1828800"/>
            <a:ext cx="82296" cy="2331720"/>
          </a:xfrm>
          <a:prstGeom prst="rect"/>
          <a:solidFill>
            <a:srgbClr val="3D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7" name="TextBox 11"/>
          <p:cNvSpPr txBox="1"/>
          <p:nvPr/>
        </p:nvSpPr>
        <p:spPr>
          <a:xfrm>
            <a:off x="4590288" y="1975104"/>
            <a:ext cx="3127248" cy="400304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1700">
                <a:solidFill>
                  <a:srgbClr val="0E1F3A"/>
                </a:solidFill>
                <a:latin typeface="Aptos"/>
              </a:defRPr>
            </a:pPr>
            <a:r>
              <a:t>PaaS — Platform as a Service</a:t>
            </a:r>
          </a:p>
        </p:txBody>
      </p:sp>
      <p:sp>
        <p:nvSpPr>
          <p:cNvPr id="1048648" name="TextBox 12"/>
          <p:cNvSpPr txBox="1"/>
          <p:nvPr/>
        </p:nvSpPr>
        <p:spPr>
          <a:xfrm>
            <a:off x="4590288" y="2395728"/>
            <a:ext cx="3108960" cy="679704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Provider manages infrastructure, runtime and middleware. Developers deploy application code.</a:t>
            </a:r>
          </a:p>
        </p:txBody>
      </p:sp>
      <p:sp>
        <p:nvSpPr>
          <p:cNvPr id="1048649" name="Rounded Rectangle 13"/>
          <p:cNvSpPr/>
          <p:nvPr/>
        </p:nvSpPr>
        <p:spPr>
          <a:xfrm>
            <a:off x="8046720" y="1828800"/>
            <a:ext cx="3474720" cy="2331720"/>
          </a:xfrm>
          <a:prstGeom prst="roundRect"/>
          <a:solidFill>
            <a:srgbClr val="FFFFFF"/>
          </a:solidFill>
          <a:ln>
            <a:solidFill>
              <a:srgbClr val="D2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0" name="Rectangle 14"/>
          <p:cNvSpPr/>
          <p:nvPr/>
        </p:nvSpPr>
        <p:spPr>
          <a:xfrm>
            <a:off x="8046720" y="1828800"/>
            <a:ext cx="82296" cy="2331720"/>
          </a:xfrm>
          <a:prstGeom prst="rect"/>
          <a:solidFill>
            <a:srgbClr val="27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1" name="TextBox 15"/>
          <p:cNvSpPr txBox="1"/>
          <p:nvPr/>
        </p:nvSpPr>
        <p:spPr>
          <a:xfrm>
            <a:off x="8247888" y="1975104"/>
            <a:ext cx="3127248" cy="400304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1700">
                <a:solidFill>
                  <a:srgbClr val="0E1F3A"/>
                </a:solidFill>
                <a:latin typeface="Aptos"/>
              </a:defRPr>
            </a:pPr>
            <a:r>
              <a:t>SaaS — Software as a Service</a:t>
            </a:r>
          </a:p>
        </p:txBody>
      </p:sp>
      <p:sp>
        <p:nvSpPr>
          <p:cNvPr id="1048652" name="TextBox 16"/>
          <p:cNvSpPr txBox="1"/>
          <p:nvPr/>
        </p:nvSpPr>
        <p:spPr>
          <a:xfrm>
            <a:off x="8247888" y="2395728"/>
            <a:ext cx="3108960" cy="501904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Complete application is delivered over the internet for users to access.</a:t>
            </a:r>
          </a:p>
        </p:txBody>
      </p:sp>
      <p:sp>
        <p:nvSpPr>
          <p:cNvPr id="1048653" name="TextBox 17"/>
          <p:cNvSpPr txBox="1"/>
          <p:nvPr/>
        </p:nvSpPr>
        <p:spPr>
          <a:xfrm>
            <a:off x="914400" y="4754880"/>
            <a:ext cx="10241280" cy="679704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1800">
                <a:solidFill>
                  <a:srgbClr val="0E1F3A"/>
                </a:solidFill>
                <a:latin typeface="Aptos"/>
              </a:defRPr>
            </a:pPr>
            <a:r>
              <a:t>Key idea: moving from IaaS to SaaS generally means less infrastructure management for the customer.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41" name=""/>
        <p:cNvGrpSpPr/>
        <p:nvPr/>
      </p:nvGrpSpPr>
      <p:grpSpPr>
        <a:xfrm/>
      </p:grpSpPr>
      <p:sp>
        <p:nvSpPr>
          <p:cNvPr id="1048654" name="TextBox 1"/>
          <p:cNvSpPr txBox="1"/>
          <p:nvPr/>
        </p:nvSpPr>
        <p:spPr>
          <a:xfrm>
            <a:off x="594360" y="320040"/>
            <a:ext cx="10972800" cy="548640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2800">
                <a:solidFill>
                  <a:srgbClr val="0E1F3A"/>
                </a:solidFill>
                <a:latin typeface="Aptos"/>
              </a:defRPr>
            </a:pPr>
            <a:r>
              <a:t>Cloud Deployment Models</a:t>
            </a:r>
          </a:p>
        </p:txBody>
      </p:sp>
      <p:sp>
        <p:nvSpPr>
          <p:cNvPr id="1048655" name="Rectangle 2"/>
          <p:cNvSpPr/>
          <p:nvPr/>
        </p:nvSpPr>
        <p:spPr>
          <a:xfrm>
            <a:off x="621792" y="987552"/>
            <a:ext cx="1051560" cy="50292"/>
          </a:xfrm>
          <a:prstGeom prst="rect"/>
          <a:solidFill>
            <a:srgbClr val="3D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6" name="TextBox 3"/>
          <p:cNvSpPr txBox="1"/>
          <p:nvPr/>
        </p:nvSpPr>
        <p:spPr>
          <a:xfrm>
            <a:off x="621792" y="1078992"/>
            <a:ext cx="10881360" cy="324105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Choosing where and how cloud resources are hosted</a:t>
            </a:r>
          </a:p>
        </p:txBody>
      </p:sp>
      <p:sp>
        <p:nvSpPr>
          <p:cNvPr id="1048657" name="TextBox 4"/>
          <p:cNvSpPr txBox="1"/>
          <p:nvPr/>
        </p:nvSpPr>
        <p:spPr>
          <a:xfrm>
            <a:off x="621792" y="6510528"/>
            <a:ext cx="10972800" cy="260604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800">
                <a:solidFill>
                  <a:srgbClr val="5B6C80"/>
                </a:solidFill>
                <a:latin typeface="Aptos"/>
              </a:defRPr>
            </a:pPr>
            <a:r>
              <a:t>CLOUD COMPUTING  •  SUMMER INTERNSHIP                                      07</a:t>
            </a:r>
          </a:p>
        </p:txBody>
      </p:sp>
      <p:sp>
        <p:nvSpPr>
          <p:cNvPr id="1048658" name="Rounded Rectangle 5"/>
          <p:cNvSpPr/>
          <p:nvPr/>
        </p:nvSpPr>
        <p:spPr>
          <a:xfrm>
            <a:off x="731520" y="1737360"/>
            <a:ext cx="5257800" cy="1508760"/>
          </a:xfrm>
          <a:prstGeom prst="roundRect"/>
          <a:solidFill>
            <a:srgbClr val="FFFFFF"/>
          </a:solidFill>
          <a:ln>
            <a:solidFill>
              <a:srgbClr val="D2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9" name="Rectangle 6"/>
          <p:cNvSpPr/>
          <p:nvPr/>
        </p:nvSpPr>
        <p:spPr>
          <a:xfrm>
            <a:off x="731520" y="1737360"/>
            <a:ext cx="82296" cy="1508760"/>
          </a:xfrm>
          <a:prstGeom prst="rect"/>
          <a:solidFill>
            <a:srgbClr val="23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0" name="TextBox 7"/>
          <p:cNvSpPr txBox="1"/>
          <p:nvPr/>
        </p:nvSpPr>
        <p:spPr>
          <a:xfrm>
            <a:off x="932688" y="1883664"/>
            <a:ext cx="4910328" cy="400304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1700">
                <a:solidFill>
                  <a:srgbClr val="0E1F3A"/>
                </a:solidFill>
                <a:latin typeface="Aptos"/>
              </a:defRPr>
            </a:pPr>
            <a:r>
              <a:t>Public Cloud</a:t>
            </a:r>
          </a:p>
        </p:txBody>
      </p:sp>
      <p:sp>
        <p:nvSpPr>
          <p:cNvPr id="1048661" name="TextBox 8"/>
          <p:cNvSpPr txBox="1"/>
          <p:nvPr/>
        </p:nvSpPr>
        <p:spPr>
          <a:xfrm>
            <a:off x="932688" y="2304288"/>
            <a:ext cx="4892040" cy="501905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Provider-managed resources shared across customers; useful for variable workloads.</a:t>
            </a:r>
          </a:p>
        </p:txBody>
      </p:sp>
      <p:sp>
        <p:nvSpPr>
          <p:cNvPr id="1048662" name="Rounded Rectangle 9"/>
          <p:cNvSpPr/>
          <p:nvPr/>
        </p:nvSpPr>
        <p:spPr>
          <a:xfrm>
            <a:off x="6217920" y="1737360"/>
            <a:ext cx="5257800" cy="1508760"/>
          </a:xfrm>
          <a:prstGeom prst="roundRect"/>
          <a:solidFill>
            <a:srgbClr val="FFFFFF"/>
          </a:solidFill>
          <a:ln>
            <a:solidFill>
              <a:srgbClr val="D2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3" name="Rectangle 10"/>
          <p:cNvSpPr/>
          <p:nvPr/>
        </p:nvSpPr>
        <p:spPr>
          <a:xfrm>
            <a:off x="6217920" y="1737360"/>
            <a:ext cx="82296" cy="1508760"/>
          </a:xfrm>
          <a:prstGeom prst="rect"/>
          <a:solidFill>
            <a:srgbClr val="3D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4" name="TextBox 11"/>
          <p:cNvSpPr txBox="1"/>
          <p:nvPr/>
        </p:nvSpPr>
        <p:spPr>
          <a:xfrm>
            <a:off x="6419088" y="1883664"/>
            <a:ext cx="4910328" cy="400304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1700">
                <a:solidFill>
                  <a:srgbClr val="0E1F3A"/>
                </a:solidFill>
                <a:latin typeface="Aptos"/>
              </a:defRPr>
            </a:pPr>
            <a:r>
              <a:t>Private Cloud</a:t>
            </a:r>
          </a:p>
        </p:txBody>
      </p:sp>
      <p:sp>
        <p:nvSpPr>
          <p:cNvPr id="1048665" name="TextBox 12"/>
          <p:cNvSpPr txBox="1"/>
          <p:nvPr/>
        </p:nvSpPr>
        <p:spPr>
          <a:xfrm>
            <a:off x="6419088" y="2304288"/>
            <a:ext cx="4892040" cy="501905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Infrastructure dedicated to one organization; useful for sensitive workloads.</a:t>
            </a:r>
          </a:p>
        </p:txBody>
      </p:sp>
      <p:sp>
        <p:nvSpPr>
          <p:cNvPr id="1048666" name="Rounded Rectangle 13"/>
          <p:cNvSpPr/>
          <p:nvPr/>
        </p:nvSpPr>
        <p:spPr>
          <a:xfrm>
            <a:off x="731520" y="3657600"/>
            <a:ext cx="5257800" cy="1508760"/>
          </a:xfrm>
          <a:prstGeom prst="roundRect"/>
          <a:solidFill>
            <a:srgbClr val="FFFFFF"/>
          </a:solidFill>
          <a:ln>
            <a:solidFill>
              <a:srgbClr val="D2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7" name="Rectangle 14"/>
          <p:cNvSpPr/>
          <p:nvPr/>
        </p:nvSpPr>
        <p:spPr>
          <a:xfrm>
            <a:off x="731520" y="3657600"/>
            <a:ext cx="82296" cy="1508760"/>
          </a:xfrm>
          <a:prstGeom prst="rect"/>
          <a:solidFill>
            <a:srgbClr val="27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8" name="TextBox 15"/>
          <p:cNvSpPr txBox="1"/>
          <p:nvPr/>
        </p:nvSpPr>
        <p:spPr>
          <a:xfrm>
            <a:off x="932688" y="3803904"/>
            <a:ext cx="4910328" cy="400303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1700">
                <a:solidFill>
                  <a:srgbClr val="0E1F3A"/>
                </a:solidFill>
                <a:latin typeface="Aptos"/>
              </a:defRPr>
            </a:pPr>
            <a:r>
              <a:t>Hybrid Cloud</a:t>
            </a:r>
          </a:p>
        </p:txBody>
      </p:sp>
      <p:sp>
        <p:nvSpPr>
          <p:cNvPr id="1048669" name="TextBox 16"/>
          <p:cNvSpPr txBox="1"/>
          <p:nvPr/>
        </p:nvSpPr>
        <p:spPr>
          <a:xfrm>
            <a:off x="932688" y="4224528"/>
            <a:ext cx="4892040" cy="324105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Connects private/on-premises systems with public cloud services.</a:t>
            </a:r>
          </a:p>
        </p:txBody>
      </p:sp>
      <p:sp>
        <p:nvSpPr>
          <p:cNvPr id="1048670" name="Rounded Rectangle 17"/>
          <p:cNvSpPr/>
          <p:nvPr/>
        </p:nvSpPr>
        <p:spPr>
          <a:xfrm>
            <a:off x="6217920" y="3657600"/>
            <a:ext cx="5257800" cy="1508760"/>
          </a:xfrm>
          <a:prstGeom prst="roundRect"/>
          <a:solidFill>
            <a:srgbClr val="FFFFFF"/>
          </a:solidFill>
          <a:ln>
            <a:solidFill>
              <a:srgbClr val="D2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1" name="Rectangle 18"/>
          <p:cNvSpPr/>
          <p:nvPr/>
        </p:nvSpPr>
        <p:spPr>
          <a:xfrm>
            <a:off x="6217920" y="3657600"/>
            <a:ext cx="82296" cy="1508760"/>
          </a:xfrm>
          <a:prstGeom prst="rect"/>
          <a:solidFill>
            <a:srgbClr val="ED9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2" name="TextBox 19"/>
          <p:cNvSpPr txBox="1"/>
          <p:nvPr/>
        </p:nvSpPr>
        <p:spPr>
          <a:xfrm>
            <a:off x="6419088" y="3803904"/>
            <a:ext cx="4910328" cy="400303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1700">
                <a:solidFill>
                  <a:srgbClr val="0E1F3A"/>
                </a:solidFill>
                <a:latin typeface="Aptos"/>
              </a:defRPr>
            </a:pPr>
            <a:r>
              <a:t>Multi-Cloud</a:t>
            </a:r>
          </a:p>
        </p:txBody>
      </p:sp>
      <p:sp>
        <p:nvSpPr>
          <p:cNvPr id="1048673" name="TextBox 20"/>
          <p:cNvSpPr txBox="1"/>
          <p:nvPr/>
        </p:nvSpPr>
        <p:spPr>
          <a:xfrm>
            <a:off x="6419088" y="4224528"/>
            <a:ext cx="4892040" cy="324105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Uses services from more than one public cloud provider.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42" name=""/>
        <p:cNvGrpSpPr/>
        <p:nvPr/>
      </p:nvGrpSpPr>
      <p:grpSpPr>
        <a:xfrm/>
      </p:grpSpPr>
      <p:sp>
        <p:nvSpPr>
          <p:cNvPr id="1048674" name="TextBox 1"/>
          <p:cNvSpPr txBox="1"/>
          <p:nvPr/>
        </p:nvSpPr>
        <p:spPr>
          <a:xfrm>
            <a:off x="594360" y="320040"/>
            <a:ext cx="10972800" cy="548640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2800">
                <a:solidFill>
                  <a:srgbClr val="0E1F3A"/>
                </a:solidFill>
                <a:latin typeface="Aptos"/>
              </a:defRPr>
            </a:pPr>
            <a:r>
              <a:t>Major Cloud Providers</a:t>
            </a:r>
          </a:p>
        </p:txBody>
      </p:sp>
      <p:sp>
        <p:nvSpPr>
          <p:cNvPr id="1048675" name="Rectangle 2"/>
          <p:cNvSpPr/>
          <p:nvPr/>
        </p:nvSpPr>
        <p:spPr>
          <a:xfrm>
            <a:off x="621792" y="987552"/>
            <a:ext cx="1051560" cy="50292"/>
          </a:xfrm>
          <a:prstGeom prst="rect"/>
          <a:solidFill>
            <a:srgbClr val="3D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6" name="TextBox 3"/>
          <p:cNvSpPr txBox="1"/>
          <p:nvPr/>
        </p:nvSpPr>
        <p:spPr>
          <a:xfrm>
            <a:off x="621792" y="1078992"/>
            <a:ext cx="10881360" cy="324105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Similar capabilities may have different product names</a:t>
            </a:r>
          </a:p>
        </p:txBody>
      </p:sp>
      <p:sp>
        <p:nvSpPr>
          <p:cNvPr id="1048677" name="TextBox 4"/>
          <p:cNvSpPr txBox="1"/>
          <p:nvPr/>
        </p:nvSpPr>
        <p:spPr>
          <a:xfrm>
            <a:off x="621792" y="6510528"/>
            <a:ext cx="10972800" cy="260604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800">
                <a:solidFill>
                  <a:srgbClr val="5B6C80"/>
                </a:solidFill>
                <a:latin typeface="Aptos"/>
              </a:defRPr>
            </a:pPr>
            <a:r>
              <a:t>CLOUD COMPUTING  •  SUMMER INTERNSHIP                                      08</a:t>
            </a:r>
          </a:p>
        </p:txBody>
      </p:sp>
      <p:graphicFrame>
        <p:nvGraphicFramePr>
          <p:cNvPr id="4194304" name="Table 5"/>
          <p:cNvGraphicFramePr>
            <a:graphicFrameLocks noGrp="1"/>
          </p:cNvGraphicFramePr>
          <p:nvPr/>
        </p:nvGraphicFramePr>
        <p:xfrm>
          <a:off x="685800" y="1645920"/>
          <a:ext cx="10835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331720"/>
                <a:gridCol w="3063240"/>
                <a:gridCol w="3291840"/>
              </a:tblGrid>
              <a:tr h="587828">
                <a:tc>
                  <a:txBody>
                    <a:bodyPr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Capability</a:t>
                      </a:r>
                    </a:p>
                  </a:txBody>
                  <a:tcPr marL="73152" marR="73152" marT="36576" marB="36576">
                    <a:solidFill>
                      <a:srgbClr val="0E1F3A"/>
                    </a:solidFill>
                  </a:tcPr>
                </a:tc>
                <a:tc>
                  <a:txBody>
                    <a:bodyPr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AWS</a:t>
                      </a:r>
                    </a:p>
                  </a:txBody>
                  <a:tcPr marL="73152" marR="73152" marT="36576" marB="36576">
                    <a:solidFill>
                      <a:srgbClr val="0E1F3A"/>
                    </a:solidFill>
                  </a:tcPr>
                </a:tc>
                <a:tc>
                  <a:txBody>
                    <a:bodyPr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Microsoft Azure</a:t>
                      </a:r>
                    </a:p>
                  </a:txBody>
                  <a:tcPr marL="73152" marR="73152" marT="36576" marB="36576">
                    <a:solidFill>
                      <a:srgbClr val="0E1F3A"/>
                    </a:solidFill>
                  </a:tcPr>
                </a:tc>
                <a:tc>
                  <a:txBody>
                    <a:bodyPr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Google Cloud</a:t>
                      </a:r>
                    </a:p>
                  </a:txBody>
                  <a:tcPr marL="73152" marR="73152" marT="36576" marB="36576">
                    <a:solidFill>
                      <a:srgbClr val="0E1F3A"/>
                    </a:solidFill>
                  </a:tcPr>
                </a:tc>
              </a:tr>
              <a:tr h="587828">
                <a:tc>
                  <a:txBody>
                    <a:bodyPr/>
                    <a:p>
                      <a:pPr algn="ctr">
                        <a:defRPr b="0" sz="1200">
                          <a:solidFill>
                            <a:srgbClr val="263345"/>
                          </a:solidFill>
                          <a:latin typeface="Aptos"/>
                        </a:defRPr>
                      </a:pPr>
                      <a:r>
                        <a:t>Virtual machines</a:t>
                      </a:r>
                    </a:p>
                  </a:txBody>
                  <a:tcPr marL="73152" marR="73152" marT="36576" marB="36576">
                    <a:solidFill>
                      <a:srgbClr val="EBF4FC"/>
                    </a:solidFill>
                  </a:tcPr>
                </a:tc>
                <a:tc>
                  <a:txBody>
                    <a:bodyPr/>
                    <a:p>
                      <a:pPr algn="ctr">
                        <a:defRPr b="0" sz="1200">
                          <a:solidFill>
                            <a:srgbClr val="263345"/>
                          </a:solidFill>
                          <a:latin typeface="Aptos"/>
                        </a:defRPr>
                      </a:pPr>
                      <a:r>
                        <a:t>EC2</a:t>
                      </a:r>
                    </a:p>
                  </a:txBody>
                  <a:tcPr marL="73152" marR="73152" marT="36576" marB="36576">
                    <a:solidFill>
                      <a:srgbClr val="EBF4FC"/>
                    </a:solidFill>
                  </a:tcPr>
                </a:tc>
                <a:tc>
                  <a:txBody>
                    <a:bodyPr/>
                    <a:p>
                      <a:pPr algn="ctr">
                        <a:defRPr b="0" sz="1200">
                          <a:solidFill>
                            <a:srgbClr val="263345"/>
                          </a:solidFill>
                          <a:latin typeface="Aptos"/>
                        </a:defRPr>
                      </a:pPr>
                      <a:r>
                        <a:t>Virtual Machines</a:t>
                      </a:r>
                    </a:p>
                  </a:txBody>
                  <a:tcPr marL="73152" marR="73152" marT="36576" marB="36576">
                    <a:solidFill>
                      <a:srgbClr val="EBF4FC"/>
                    </a:solidFill>
                  </a:tcPr>
                </a:tc>
                <a:tc>
                  <a:txBody>
                    <a:bodyPr/>
                    <a:p>
                      <a:pPr algn="ctr">
                        <a:defRPr b="0" sz="1200">
                          <a:solidFill>
                            <a:srgbClr val="263345"/>
                          </a:solidFill>
                          <a:latin typeface="Aptos"/>
                        </a:defRPr>
                      </a:pPr>
                      <a:r>
                        <a:t>Compute Engine</a:t>
                      </a:r>
                    </a:p>
                  </a:txBody>
                  <a:tcPr marL="73152" marR="73152" marT="36576" marB="36576">
                    <a:solidFill>
                      <a:srgbClr val="EBF4FC"/>
                    </a:solidFill>
                  </a:tcPr>
                </a:tc>
              </a:tr>
              <a:tr h="587828">
                <a:tc>
                  <a:txBody>
                    <a:bodyPr/>
                    <a:p>
                      <a:pPr algn="ctr">
                        <a:defRPr b="0" sz="1200">
                          <a:solidFill>
                            <a:srgbClr val="263345"/>
                          </a:solidFill>
                          <a:latin typeface="Aptos"/>
                        </a:defRPr>
                      </a:pPr>
                      <a:r>
                        <a:t>Object storage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 b="0" sz="1200">
                          <a:solidFill>
                            <a:srgbClr val="263345"/>
                          </a:solidFill>
                          <a:latin typeface="Aptos"/>
                        </a:defRPr>
                      </a:pPr>
                      <a:r>
                        <a:t>S3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 b="0" sz="1200">
                          <a:solidFill>
                            <a:srgbClr val="263345"/>
                          </a:solidFill>
                          <a:latin typeface="Aptos"/>
                        </a:defRPr>
                      </a:pPr>
                      <a:r>
                        <a:t>Blob Storage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 b="0" sz="1200">
                          <a:solidFill>
                            <a:srgbClr val="263345"/>
                          </a:solidFill>
                          <a:latin typeface="Aptos"/>
                        </a:defRPr>
                      </a:pPr>
                      <a:r>
                        <a:t>Cloud Storage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p>
                      <a:pPr algn="ctr">
                        <a:defRPr b="0" sz="1200">
                          <a:solidFill>
                            <a:srgbClr val="263345"/>
                          </a:solidFill>
                          <a:latin typeface="Aptos"/>
                        </a:defRPr>
                      </a:pPr>
                      <a:r>
                        <a:t>Relational DB</a:t>
                      </a:r>
                    </a:p>
                  </a:txBody>
                  <a:tcPr marL="73152" marR="73152" marT="36576" marB="36576">
                    <a:solidFill>
                      <a:srgbClr val="EBF4FC"/>
                    </a:solidFill>
                  </a:tcPr>
                </a:tc>
                <a:tc>
                  <a:txBody>
                    <a:bodyPr/>
                    <a:p>
                      <a:pPr algn="ctr">
                        <a:defRPr b="0" sz="1200">
                          <a:solidFill>
                            <a:srgbClr val="263345"/>
                          </a:solidFill>
                          <a:latin typeface="Aptos"/>
                        </a:defRPr>
                      </a:pPr>
                      <a:r>
                        <a:t>RDS</a:t>
                      </a:r>
                    </a:p>
                  </a:txBody>
                  <a:tcPr marL="73152" marR="73152" marT="36576" marB="36576">
                    <a:solidFill>
                      <a:srgbClr val="EBF4FC"/>
                    </a:solidFill>
                  </a:tcPr>
                </a:tc>
                <a:tc>
                  <a:txBody>
                    <a:bodyPr/>
                    <a:p>
                      <a:pPr algn="ctr">
                        <a:defRPr b="0" sz="1200">
                          <a:solidFill>
                            <a:srgbClr val="263345"/>
                          </a:solidFill>
                          <a:latin typeface="Aptos"/>
                        </a:defRPr>
                      </a:pPr>
                      <a:r>
                        <a:t>Azure SQL Database</a:t>
                      </a:r>
                    </a:p>
                  </a:txBody>
                  <a:tcPr marL="73152" marR="73152" marT="36576" marB="36576">
                    <a:solidFill>
                      <a:srgbClr val="EBF4FC"/>
                    </a:solidFill>
                  </a:tcPr>
                </a:tc>
                <a:tc>
                  <a:txBody>
                    <a:bodyPr/>
                    <a:p>
                      <a:pPr algn="ctr">
                        <a:defRPr b="0" sz="1200">
                          <a:solidFill>
                            <a:srgbClr val="263345"/>
                          </a:solidFill>
                          <a:latin typeface="Aptos"/>
                        </a:defRPr>
                      </a:pPr>
                      <a:r>
                        <a:t>Cloud SQL</a:t>
                      </a:r>
                    </a:p>
                  </a:txBody>
                  <a:tcPr marL="73152" marR="73152" marT="36576" marB="36576">
                    <a:solidFill>
                      <a:srgbClr val="EBF4FC"/>
                    </a:solidFill>
                  </a:tcPr>
                </a:tc>
              </a:tr>
              <a:tr h="587828">
                <a:tc>
                  <a:txBody>
                    <a:bodyPr/>
                    <a:p>
                      <a:pPr algn="ctr">
                        <a:defRPr b="0" sz="1200">
                          <a:solidFill>
                            <a:srgbClr val="263345"/>
                          </a:solidFill>
                          <a:latin typeface="Aptos"/>
                        </a:defRPr>
                      </a:pPr>
                      <a:r>
                        <a:t>Serverless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 b="0" sz="1200">
                          <a:solidFill>
                            <a:srgbClr val="263345"/>
                          </a:solidFill>
                          <a:latin typeface="Aptos"/>
                        </a:defRPr>
                      </a:pPr>
                      <a:r>
                        <a:t>Lambda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 b="0" sz="1200">
                          <a:solidFill>
                            <a:srgbClr val="263345"/>
                          </a:solidFill>
                          <a:latin typeface="Aptos"/>
                        </a:defRPr>
                      </a:pPr>
                      <a:r>
                        <a:t>Azure Functions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 b="0" sz="1200">
                          <a:solidFill>
                            <a:srgbClr val="263345"/>
                          </a:solidFill>
                          <a:latin typeface="Aptos"/>
                        </a:defRPr>
                      </a:pPr>
                      <a:r>
                        <a:t>Cloud Functions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p>
                      <a:pPr algn="ctr">
                        <a:defRPr b="0" sz="1200">
                          <a:solidFill>
                            <a:srgbClr val="263345"/>
                          </a:solidFill>
                          <a:latin typeface="Aptos"/>
                        </a:defRPr>
                      </a:pPr>
                      <a:r>
                        <a:t>Kubernetes</a:t>
                      </a:r>
                    </a:p>
                  </a:txBody>
                  <a:tcPr marL="73152" marR="73152" marT="36576" marB="36576">
                    <a:solidFill>
                      <a:srgbClr val="EBF4FC"/>
                    </a:solidFill>
                  </a:tcPr>
                </a:tc>
                <a:tc>
                  <a:txBody>
                    <a:bodyPr/>
                    <a:p>
                      <a:pPr algn="ctr">
                        <a:defRPr b="0" sz="1200">
                          <a:solidFill>
                            <a:srgbClr val="263345"/>
                          </a:solidFill>
                          <a:latin typeface="Aptos"/>
                        </a:defRPr>
                      </a:pPr>
                      <a:r>
                        <a:t>EKS</a:t>
                      </a:r>
                    </a:p>
                  </a:txBody>
                  <a:tcPr marL="73152" marR="73152" marT="36576" marB="36576">
                    <a:solidFill>
                      <a:srgbClr val="EBF4FC"/>
                    </a:solidFill>
                  </a:tcPr>
                </a:tc>
                <a:tc>
                  <a:txBody>
                    <a:bodyPr/>
                    <a:p>
                      <a:pPr algn="ctr">
                        <a:defRPr b="0" sz="1200">
                          <a:solidFill>
                            <a:srgbClr val="263345"/>
                          </a:solidFill>
                          <a:latin typeface="Aptos"/>
                        </a:defRPr>
                      </a:pPr>
                      <a:r>
                        <a:t>AKS</a:t>
                      </a:r>
                    </a:p>
                  </a:txBody>
                  <a:tcPr marL="73152" marR="73152" marT="36576" marB="36576">
                    <a:solidFill>
                      <a:srgbClr val="EBF4FC"/>
                    </a:solidFill>
                  </a:tcPr>
                </a:tc>
                <a:tc>
                  <a:txBody>
                    <a:bodyPr/>
                    <a:p>
                      <a:pPr algn="ctr">
                        <a:defRPr b="0" sz="1200">
                          <a:solidFill>
                            <a:srgbClr val="263345"/>
                          </a:solidFill>
                          <a:latin typeface="Aptos"/>
                        </a:defRPr>
                      </a:pPr>
                      <a:r>
                        <a:t>GKE</a:t>
                      </a:r>
                    </a:p>
                  </a:txBody>
                  <a:tcPr marL="73152" marR="73152" marT="36576" marB="36576">
                    <a:solidFill>
                      <a:srgbClr val="EBF4FC"/>
                    </a:solidFill>
                  </a:tcPr>
                </a:tc>
              </a:tr>
              <a:tr h="587832">
                <a:tc>
                  <a:txBody>
                    <a:bodyPr/>
                    <a:p>
                      <a:pPr algn="ctr">
                        <a:defRPr b="0" sz="1200">
                          <a:solidFill>
                            <a:srgbClr val="263345"/>
                          </a:solidFill>
                          <a:latin typeface="Aptos"/>
                        </a:defRPr>
                      </a:pPr>
                      <a:r>
                        <a:t>Data warehouse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 b="0" sz="1200">
                          <a:solidFill>
                            <a:srgbClr val="263345"/>
                          </a:solidFill>
                          <a:latin typeface="Aptos"/>
                        </a:defRPr>
                      </a:pPr>
                      <a:r>
                        <a:t>Redshift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 b="0" sz="1200">
                          <a:solidFill>
                            <a:srgbClr val="263345"/>
                          </a:solidFill>
                          <a:latin typeface="Aptos"/>
                        </a:defRPr>
                      </a:pPr>
                      <a:r>
                        <a:t>Synapse Analytics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 b="0" sz="1200">
                          <a:solidFill>
                            <a:srgbClr val="263345"/>
                          </a:solidFill>
                          <a:latin typeface="Aptos"/>
                        </a:defRPr>
                      </a:pPr>
                      <a:r>
                        <a:t>BigQuery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48678" name="TextBox 6"/>
          <p:cNvSpPr txBox="1"/>
          <p:nvPr/>
        </p:nvSpPr>
        <p:spPr>
          <a:xfrm>
            <a:off x="822960" y="5897880"/>
            <a:ext cx="10607040" cy="320040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The report compared equivalent services across providers to understand common cloud concepts.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43" name=""/>
        <p:cNvGrpSpPr/>
        <p:nvPr/>
      </p:nvGrpSpPr>
      <p:grpSpPr>
        <a:xfrm/>
      </p:grpSpPr>
      <p:sp>
        <p:nvSpPr>
          <p:cNvPr id="1048679" name="TextBox 1"/>
          <p:cNvSpPr txBox="1"/>
          <p:nvPr/>
        </p:nvSpPr>
        <p:spPr>
          <a:xfrm>
            <a:off x="594360" y="320040"/>
            <a:ext cx="10972800" cy="548640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2800">
                <a:solidFill>
                  <a:srgbClr val="0E1F3A"/>
                </a:solidFill>
                <a:latin typeface="Aptos"/>
              </a:defRPr>
            </a:pPr>
            <a:r>
              <a:t>Compute, Storage and Networking</a:t>
            </a:r>
          </a:p>
        </p:txBody>
      </p:sp>
      <p:sp>
        <p:nvSpPr>
          <p:cNvPr id="1048680" name="Rectangle 2"/>
          <p:cNvSpPr/>
          <p:nvPr/>
        </p:nvSpPr>
        <p:spPr>
          <a:xfrm>
            <a:off x="621792" y="987552"/>
            <a:ext cx="1051560" cy="50292"/>
          </a:xfrm>
          <a:prstGeom prst="rect"/>
          <a:solidFill>
            <a:srgbClr val="3D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81" name="TextBox 3"/>
          <p:cNvSpPr txBox="1"/>
          <p:nvPr/>
        </p:nvSpPr>
        <p:spPr>
          <a:xfrm>
            <a:off x="621792" y="1078992"/>
            <a:ext cx="10881360" cy="324105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Core infrastructure building blocks</a:t>
            </a:r>
          </a:p>
        </p:txBody>
      </p:sp>
      <p:sp>
        <p:nvSpPr>
          <p:cNvPr id="1048682" name="TextBox 4"/>
          <p:cNvSpPr txBox="1"/>
          <p:nvPr/>
        </p:nvSpPr>
        <p:spPr>
          <a:xfrm>
            <a:off x="621792" y="6510528"/>
            <a:ext cx="10972800" cy="260604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800">
                <a:solidFill>
                  <a:srgbClr val="5B6C80"/>
                </a:solidFill>
                <a:latin typeface="Aptos"/>
              </a:defRPr>
            </a:pPr>
            <a:r>
              <a:t>CLOUD COMPUTING  •  SUMMER INTERNSHIP                                      09</a:t>
            </a:r>
          </a:p>
        </p:txBody>
      </p:sp>
      <p:sp>
        <p:nvSpPr>
          <p:cNvPr id="1048683" name="Rounded Rectangle 5"/>
          <p:cNvSpPr/>
          <p:nvPr/>
        </p:nvSpPr>
        <p:spPr>
          <a:xfrm>
            <a:off x="731520" y="1737360"/>
            <a:ext cx="3474720" cy="2240280"/>
          </a:xfrm>
          <a:prstGeom prst="roundRect"/>
          <a:solidFill>
            <a:srgbClr val="FFFFFF"/>
          </a:solidFill>
          <a:ln>
            <a:solidFill>
              <a:srgbClr val="D2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84" name="Rectangle 6"/>
          <p:cNvSpPr/>
          <p:nvPr/>
        </p:nvSpPr>
        <p:spPr>
          <a:xfrm>
            <a:off x="731520" y="1737360"/>
            <a:ext cx="82296" cy="2240280"/>
          </a:xfrm>
          <a:prstGeom prst="rect"/>
          <a:solidFill>
            <a:srgbClr val="23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85" name="TextBox 7"/>
          <p:cNvSpPr txBox="1"/>
          <p:nvPr/>
        </p:nvSpPr>
        <p:spPr>
          <a:xfrm>
            <a:off x="932688" y="1883664"/>
            <a:ext cx="3127248" cy="400304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1700">
                <a:solidFill>
                  <a:srgbClr val="0E1F3A"/>
                </a:solidFill>
                <a:latin typeface="Aptos"/>
              </a:defRPr>
            </a:pPr>
            <a:r>
              <a:t>Compute</a:t>
            </a:r>
          </a:p>
        </p:txBody>
      </p:sp>
      <p:sp>
        <p:nvSpPr>
          <p:cNvPr id="1048686" name="TextBox 8"/>
          <p:cNvSpPr txBox="1"/>
          <p:nvPr/>
        </p:nvSpPr>
        <p:spPr>
          <a:xfrm>
            <a:off x="932688" y="2304288"/>
            <a:ext cx="3108960" cy="501905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Virtual machines and Docker containers; instance sizing, images and scaling.</a:t>
            </a:r>
          </a:p>
        </p:txBody>
      </p:sp>
      <p:sp>
        <p:nvSpPr>
          <p:cNvPr id="1048687" name="Rounded Rectangle 9"/>
          <p:cNvSpPr/>
          <p:nvPr/>
        </p:nvSpPr>
        <p:spPr>
          <a:xfrm>
            <a:off x="4389120" y="1737360"/>
            <a:ext cx="3474720" cy="2240280"/>
          </a:xfrm>
          <a:prstGeom prst="roundRect"/>
          <a:solidFill>
            <a:srgbClr val="FFFFFF"/>
          </a:solidFill>
          <a:ln>
            <a:solidFill>
              <a:srgbClr val="D2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88" name="Rectangle 10"/>
          <p:cNvSpPr/>
          <p:nvPr/>
        </p:nvSpPr>
        <p:spPr>
          <a:xfrm>
            <a:off x="4389120" y="1737360"/>
            <a:ext cx="82296" cy="2240280"/>
          </a:xfrm>
          <a:prstGeom prst="rect"/>
          <a:solidFill>
            <a:srgbClr val="3D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89" name="TextBox 11"/>
          <p:cNvSpPr txBox="1"/>
          <p:nvPr/>
        </p:nvSpPr>
        <p:spPr>
          <a:xfrm>
            <a:off x="4590288" y="1883664"/>
            <a:ext cx="3127248" cy="400304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1700">
                <a:solidFill>
                  <a:srgbClr val="0E1F3A"/>
                </a:solidFill>
                <a:latin typeface="Aptos"/>
              </a:defRPr>
            </a:pPr>
            <a:r>
              <a:t>Storage</a:t>
            </a:r>
          </a:p>
        </p:txBody>
      </p:sp>
      <p:sp>
        <p:nvSpPr>
          <p:cNvPr id="1048690" name="TextBox 12"/>
          <p:cNvSpPr txBox="1"/>
          <p:nvPr/>
        </p:nvSpPr>
        <p:spPr>
          <a:xfrm>
            <a:off x="4590288" y="2304288"/>
            <a:ext cx="3108960" cy="501905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Block, object and file storage; lifecycle rules and access controls.</a:t>
            </a:r>
          </a:p>
        </p:txBody>
      </p:sp>
      <p:sp>
        <p:nvSpPr>
          <p:cNvPr id="1048691" name="Rounded Rectangle 13"/>
          <p:cNvSpPr/>
          <p:nvPr/>
        </p:nvSpPr>
        <p:spPr>
          <a:xfrm>
            <a:off x="8046720" y="1737360"/>
            <a:ext cx="3474720" cy="2240280"/>
          </a:xfrm>
          <a:prstGeom prst="roundRect"/>
          <a:solidFill>
            <a:srgbClr val="FFFFFF"/>
          </a:solidFill>
          <a:ln>
            <a:solidFill>
              <a:srgbClr val="D2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2" name="Rectangle 14"/>
          <p:cNvSpPr/>
          <p:nvPr/>
        </p:nvSpPr>
        <p:spPr>
          <a:xfrm>
            <a:off x="8046720" y="1737360"/>
            <a:ext cx="82296" cy="2240280"/>
          </a:xfrm>
          <a:prstGeom prst="rect"/>
          <a:solidFill>
            <a:srgbClr val="27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3" name="TextBox 15"/>
          <p:cNvSpPr txBox="1"/>
          <p:nvPr/>
        </p:nvSpPr>
        <p:spPr>
          <a:xfrm>
            <a:off x="8247888" y="1883664"/>
            <a:ext cx="3127248" cy="400304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1700">
                <a:solidFill>
                  <a:srgbClr val="0E1F3A"/>
                </a:solidFill>
                <a:latin typeface="Aptos"/>
              </a:defRPr>
            </a:pPr>
            <a:r>
              <a:t>Networking</a:t>
            </a:r>
          </a:p>
        </p:txBody>
      </p:sp>
      <p:sp>
        <p:nvSpPr>
          <p:cNvPr id="1048694" name="TextBox 16"/>
          <p:cNvSpPr txBox="1"/>
          <p:nvPr/>
        </p:nvSpPr>
        <p:spPr>
          <a:xfrm>
            <a:off x="8247888" y="2304288"/>
            <a:ext cx="3108960" cy="501905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VPC, public/private subnets, route tables, gateways and security groups.</a:t>
            </a:r>
          </a:p>
        </p:txBody>
      </p:sp>
      <p:sp>
        <p:nvSpPr>
          <p:cNvPr id="1048695" name="TextBox 17"/>
          <p:cNvSpPr txBox="1"/>
          <p:nvPr/>
        </p:nvSpPr>
        <p:spPr>
          <a:xfrm>
            <a:off x="914400" y="4389120"/>
            <a:ext cx="10424160" cy="730504"/>
          </a:xfrm>
          <a:prstGeom prst="rect"/>
          <a:noFill/>
        </p:spPr>
        <p:txBody>
          <a:bodyPr bIns="73152" tIns="73152" wrap="square">
            <a:spAutoFit/>
          </a:bodyPr>
          <a:p>
            <a:pPr>
              <a:spcAft>
                <a:spcPts val="800"/>
              </a:spcAft>
              <a:defRPr sz="1600">
                <a:solidFill>
                  <a:srgbClr val="263345"/>
                </a:solidFill>
                <a:latin typeface="Aptos"/>
              </a:defRPr>
            </a:pPr>
            <a:r>
              <a:t>Example in the report: a VPC with public web servers and private application/database resources.</a:t>
            </a:r>
          </a:p>
          <a:p>
            <a:pPr>
              <a:spcAft>
                <a:spcPts val="800"/>
              </a:spcAft>
              <a:defRPr sz="1600">
                <a:solidFill>
                  <a:srgbClr val="263345"/>
                </a:solidFill>
                <a:latin typeface="Aptos"/>
              </a:defRPr>
            </a:pPr>
            <a:r>
              <a:t>Storage examples include Amazon S3 and Google Cloud Storage.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44" name=""/>
        <p:cNvGrpSpPr/>
        <p:nvPr/>
      </p:nvGrpSpPr>
      <p:grpSpPr>
        <a:xfrm/>
      </p:grpSpPr>
      <p:sp>
        <p:nvSpPr>
          <p:cNvPr id="1048696" name="TextBox 1"/>
          <p:cNvSpPr txBox="1"/>
          <p:nvPr/>
        </p:nvSpPr>
        <p:spPr>
          <a:xfrm>
            <a:off x="594360" y="320040"/>
            <a:ext cx="10972800" cy="548640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2800">
                <a:solidFill>
                  <a:srgbClr val="0E1F3A"/>
                </a:solidFill>
                <a:latin typeface="Aptos"/>
              </a:defRPr>
            </a:pPr>
            <a:r>
              <a:t>Identity, Security and Compliance</a:t>
            </a:r>
          </a:p>
        </p:txBody>
      </p:sp>
      <p:sp>
        <p:nvSpPr>
          <p:cNvPr id="1048697" name="Rectangle 2"/>
          <p:cNvSpPr/>
          <p:nvPr/>
        </p:nvSpPr>
        <p:spPr>
          <a:xfrm>
            <a:off x="621792" y="987552"/>
            <a:ext cx="1051560" cy="50292"/>
          </a:xfrm>
          <a:prstGeom prst="rect"/>
          <a:solidFill>
            <a:srgbClr val="3D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8" name="TextBox 3"/>
          <p:cNvSpPr txBox="1"/>
          <p:nvPr/>
        </p:nvSpPr>
        <p:spPr>
          <a:xfrm>
            <a:off x="621792" y="1078992"/>
            <a:ext cx="10881360" cy="324105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Protecting cloud resources and data</a:t>
            </a:r>
          </a:p>
        </p:txBody>
      </p:sp>
      <p:sp>
        <p:nvSpPr>
          <p:cNvPr id="1048699" name="TextBox 4"/>
          <p:cNvSpPr txBox="1"/>
          <p:nvPr/>
        </p:nvSpPr>
        <p:spPr>
          <a:xfrm>
            <a:off x="621792" y="6510528"/>
            <a:ext cx="10972800" cy="260604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800">
                <a:solidFill>
                  <a:srgbClr val="5B6C80"/>
                </a:solidFill>
                <a:latin typeface="Aptos"/>
              </a:defRPr>
            </a:pPr>
            <a:r>
              <a:t>CLOUD COMPUTING  •  SUMMER INTERNSHIP                                      10</a:t>
            </a:r>
          </a:p>
        </p:txBody>
      </p:sp>
      <p:sp>
        <p:nvSpPr>
          <p:cNvPr id="1048700" name="TextBox 5"/>
          <p:cNvSpPr txBox="1"/>
          <p:nvPr/>
        </p:nvSpPr>
        <p:spPr>
          <a:xfrm>
            <a:off x="777240" y="1600200"/>
            <a:ext cx="10789920" cy="2089405"/>
          </a:xfrm>
          <a:prstGeom prst="rect"/>
          <a:noFill/>
        </p:spPr>
        <p:txBody>
          <a:bodyPr bIns="73152" tIns="73152" wrap="square">
            <a:spAutoFit/>
          </a:bodyPr>
          <a:p>
            <a:pPr>
              <a:spcAft>
                <a:spcPts val="1200"/>
              </a:spcAft>
              <a:defRPr sz="1800">
                <a:solidFill>
                  <a:srgbClr val="263345"/>
                </a:solidFill>
                <a:latin typeface="Aptos"/>
              </a:defRPr>
            </a:pPr>
            <a:r>
              <a:t>Identity and Access Management (IAM): users, groups, roles and policy-based permissions.</a:t>
            </a:r>
          </a:p>
          <a:p>
            <a:pPr>
              <a:spcAft>
                <a:spcPts val="1200"/>
              </a:spcAft>
              <a:defRPr sz="1800">
                <a:solidFill>
                  <a:srgbClr val="263345"/>
                </a:solidFill>
                <a:latin typeface="Aptos"/>
              </a:defRPr>
            </a:pPr>
            <a:r>
              <a:t>Least privilege: give each identity only the permissions required.</a:t>
            </a:r>
          </a:p>
          <a:p>
            <a:pPr>
              <a:spcAft>
                <a:spcPts val="1200"/>
              </a:spcAft>
              <a:defRPr sz="1800">
                <a:solidFill>
                  <a:srgbClr val="263345"/>
                </a:solidFill>
                <a:latin typeface="Aptos"/>
              </a:defRPr>
            </a:pPr>
            <a:r>
              <a:t>Multi-factor authentication (MFA) adds an extra layer of identity verification.</a:t>
            </a:r>
          </a:p>
          <a:p>
            <a:pPr>
              <a:spcAft>
                <a:spcPts val="1200"/>
              </a:spcAft>
              <a:defRPr sz="1800">
                <a:solidFill>
                  <a:srgbClr val="263345"/>
                </a:solidFill>
                <a:latin typeface="Aptos"/>
              </a:defRPr>
            </a:pPr>
            <a:r>
              <a:t>Encryption protects data at rest and in transit; the report discusses AWS KMS and Azure Key Vault.</a:t>
            </a:r>
          </a:p>
          <a:p>
            <a:pPr>
              <a:spcAft>
                <a:spcPts val="1200"/>
              </a:spcAft>
              <a:defRPr sz="1800">
                <a:solidFill>
                  <a:srgbClr val="263345"/>
                </a:solidFill>
                <a:latin typeface="Aptos"/>
              </a:defRPr>
            </a:pPr>
            <a:r>
              <a:t>The shared responsibility model divides security responsibilities between the cloud provider and customer.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45" name=""/>
        <p:cNvGrpSpPr/>
        <p:nvPr/>
      </p:nvGrpSpPr>
      <p:grpSpPr>
        <a:xfrm/>
      </p:grpSpPr>
      <p:sp>
        <p:nvSpPr>
          <p:cNvPr id="1048701" name="TextBox 1"/>
          <p:cNvSpPr txBox="1"/>
          <p:nvPr/>
        </p:nvSpPr>
        <p:spPr>
          <a:xfrm>
            <a:off x="594360" y="320040"/>
            <a:ext cx="10972800" cy="548640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2800">
                <a:solidFill>
                  <a:srgbClr val="0E1F3A"/>
                </a:solidFill>
                <a:latin typeface="Aptos"/>
              </a:defRPr>
            </a:pPr>
            <a:r>
              <a:t>Scalability, Availability and Recovery</a:t>
            </a:r>
          </a:p>
        </p:txBody>
      </p:sp>
      <p:sp>
        <p:nvSpPr>
          <p:cNvPr id="1048702" name="Rectangle 2"/>
          <p:cNvSpPr/>
          <p:nvPr/>
        </p:nvSpPr>
        <p:spPr>
          <a:xfrm>
            <a:off x="621792" y="987552"/>
            <a:ext cx="1051560" cy="50292"/>
          </a:xfrm>
          <a:prstGeom prst="rect"/>
          <a:solidFill>
            <a:srgbClr val="3D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3" name="TextBox 3"/>
          <p:cNvSpPr txBox="1"/>
          <p:nvPr/>
        </p:nvSpPr>
        <p:spPr>
          <a:xfrm>
            <a:off x="621792" y="1078992"/>
            <a:ext cx="10881360" cy="384048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Keeping services responsive and resilient</a:t>
            </a:r>
          </a:p>
        </p:txBody>
      </p:sp>
      <p:sp>
        <p:nvSpPr>
          <p:cNvPr id="1048704" name="TextBox 4"/>
          <p:cNvSpPr txBox="1"/>
          <p:nvPr/>
        </p:nvSpPr>
        <p:spPr>
          <a:xfrm>
            <a:off x="621792" y="6510528"/>
            <a:ext cx="10972800" cy="201168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800">
                <a:solidFill>
                  <a:srgbClr val="5B6C80"/>
                </a:solidFill>
                <a:latin typeface="Aptos"/>
              </a:defRPr>
            </a:pPr>
            <a:r>
              <a:t>CLOUD COMPUTING  •  SUMMER INTERNSHIP                                      11</a:t>
            </a:r>
          </a:p>
        </p:txBody>
      </p:sp>
      <p:sp>
        <p:nvSpPr>
          <p:cNvPr id="1048705" name="Rounded Rectangle 5"/>
          <p:cNvSpPr/>
          <p:nvPr/>
        </p:nvSpPr>
        <p:spPr>
          <a:xfrm>
            <a:off x="731520" y="1737360"/>
            <a:ext cx="3474720" cy="1965960"/>
          </a:xfrm>
          <a:prstGeom prst="roundRect"/>
          <a:solidFill>
            <a:srgbClr val="FFFFFF"/>
          </a:solidFill>
          <a:ln>
            <a:solidFill>
              <a:srgbClr val="D2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6" name="Rectangle 6"/>
          <p:cNvSpPr/>
          <p:nvPr/>
        </p:nvSpPr>
        <p:spPr>
          <a:xfrm>
            <a:off x="731520" y="1737360"/>
            <a:ext cx="82296" cy="1965960"/>
          </a:xfrm>
          <a:prstGeom prst="rect"/>
          <a:solidFill>
            <a:srgbClr val="23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7" name="TextBox 7"/>
          <p:cNvSpPr txBox="1"/>
          <p:nvPr/>
        </p:nvSpPr>
        <p:spPr>
          <a:xfrm>
            <a:off x="932688" y="1883664"/>
            <a:ext cx="3127248" cy="347472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1700">
                <a:solidFill>
                  <a:srgbClr val="0E1F3A"/>
                </a:solidFill>
                <a:latin typeface="Aptos"/>
              </a:defRPr>
            </a:pPr>
            <a:r>
              <a:t>Load Balancing</a:t>
            </a:r>
          </a:p>
        </p:txBody>
      </p:sp>
      <p:sp>
        <p:nvSpPr>
          <p:cNvPr id="1048708" name="TextBox 8"/>
          <p:cNvSpPr txBox="1"/>
          <p:nvPr/>
        </p:nvSpPr>
        <p:spPr>
          <a:xfrm>
            <a:off x="932688" y="2304288"/>
            <a:ext cx="3108960" cy="1307592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Distributes incoming requests across healthy instances.</a:t>
            </a:r>
          </a:p>
        </p:txBody>
      </p:sp>
      <p:sp>
        <p:nvSpPr>
          <p:cNvPr id="1048709" name="Rounded Rectangle 9"/>
          <p:cNvSpPr/>
          <p:nvPr/>
        </p:nvSpPr>
        <p:spPr>
          <a:xfrm>
            <a:off x="4389120" y="1737360"/>
            <a:ext cx="3474720" cy="1965960"/>
          </a:xfrm>
          <a:prstGeom prst="roundRect"/>
          <a:solidFill>
            <a:srgbClr val="FFFFFF"/>
          </a:solidFill>
          <a:ln>
            <a:solidFill>
              <a:srgbClr val="D2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10" name="Rectangle 10"/>
          <p:cNvSpPr/>
          <p:nvPr/>
        </p:nvSpPr>
        <p:spPr>
          <a:xfrm>
            <a:off x="4389120" y="1737360"/>
            <a:ext cx="82296" cy="1965960"/>
          </a:xfrm>
          <a:prstGeom prst="rect"/>
          <a:solidFill>
            <a:srgbClr val="3D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11" name="TextBox 11"/>
          <p:cNvSpPr txBox="1"/>
          <p:nvPr/>
        </p:nvSpPr>
        <p:spPr>
          <a:xfrm>
            <a:off x="4590288" y="1883664"/>
            <a:ext cx="3127248" cy="347472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1700">
                <a:solidFill>
                  <a:srgbClr val="0E1F3A"/>
                </a:solidFill>
                <a:latin typeface="Aptos"/>
              </a:defRPr>
            </a:pPr>
            <a:r>
              <a:t>Auto-Scaling</a:t>
            </a:r>
          </a:p>
        </p:txBody>
      </p:sp>
      <p:sp>
        <p:nvSpPr>
          <p:cNvPr id="1048712" name="TextBox 12"/>
          <p:cNvSpPr txBox="1"/>
          <p:nvPr/>
        </p:nvSpPr>
        <p:spPr>
          <a:xfrm>
            <a:off x="4590288" y="2304288"/>
            <a:ext cx="3108960" cy="1307592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Adds or removes compute capacity as demand changes.</a:t>
            </a:r>
          </a:p>
        </p:txBody>
      </p:sp>
      <p:sp>
        <p:nvSpPr>
          <p:cNvPr id="1048713" name="Rounded Rectangle 13"/>
          <p:cNvSpPr/>
          <p:nvPr/>
        </p:nvSpPr>
        <p:spPr>
          <a:xfrm>
            <a:off x="8046720" y="1737360"/>
            <a:ext cx="3474720" cy="1965960"/>
          </a:xfrm>
          <a:prstGeom prst="roundRect"/>
          <a:solidFill>
            <a:srgbClr val="FFFFFF"/>
          </a:solidFill>
          <a:ln>
            <a:solidFill>
              <a:srgbClr val="D2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14" name="Rectangle 14"/>
          <p:cNvSpPr/>
          <p:nvPr/>
        </p:nvSpPr>
        <p:spPr>
          <a:xfrm>
            <a:off x="8046720" y="1737360"/>
            <a:ext cx="82296" cy="1965960"/>
          </a:xfrm>
          <a:prstGeom prst="rect"/>
          <a:solidFill>
            <a:srgbClr val="27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15" name="TextBox 15"/>
          <p:cNvSpPr txBox="1"/>
          <p:nvPr/>
        </p:nvSpPr>
        <p:spPr>
          <a:xfrm>
            <a:off x="8247888" y="1883664"/>
            <a:ext cx="3127248" cy="347472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1700">
                <a:solidFill>
                  <a:srgbClr val="0E1F3A"/>
                </a:solidFill>
                <a:latin typeface="Aptos"/>
              </a:defRPr>
            </a:pPr>
            <a:r>
              <a:t>Disaster Recovery</a:t>
            </a:r>
          </a:p>
        </p:txBody>
      </p:sp>
      <p:sp>
        <p:nvSpPr>
          <p:cNvPr id="1048716" name="TextBox 16"/>
          <p:cNvSpPr txBox="1"/>
          <p:nvPr/>
        </p:nvSpPr>
        <p:spPr>
          <a:xfrm>
            <a:off x="8247888" y="2304288"/>
            <a:ext cx="3108960" cy="1307592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Backups, failover and multi-region strategies reduce downtime and data loss.</a:t>
            </a:r>
          </a:p>
        </p:txBody>
      </p:sp>
      <p:sp>
        <p:nvSpPr>
          <p:cNvPr id="1048717" name="TextBox 17"/>
          <p:cNvSpPr txBox="1"/>
          <p:nvPr/>
        </p:nvSpPr>
        <p:spPr>
          <a:xfrm>
            <a:off x="914400" y="4251960"/>
            <a:ext cx="10424160" cy="1097280"/>
          </a:xfrm>
          <a:prstGeom prst="rect"/>
          <a:noFill/>
        </p:spPr>
        <p:txBody>
          <a:bodyPr bIns="73152" tIns="73152" wrap="square">
            <a:spAutoFit/>
          </a:bodyPr>
          <a:p>
            <a:pPr>
              <a:spcAft>
                <a:spcPts val="800"/>
              </a:spcAft>
              <a:defRPr sz="1700">
                <a:solidFill>
                  <a:srgbClr val="263345"/>
                </a:solidFill>
                <a:latin typeface="Aptos"/>
              </a:defRPr>
            </a:pPr>
            <a:r>
              <a:t>RTO: target time to restore a service.</a:t>
            </a:r>
          </a:p>
          <a:p>
            <a:pPr>
              <a:spcAft>
                <a:spcPts val="800"/>
              </a:spcAft>
              <a:defRPr sz="1700">
                <a:solidFill>
                  <a:srgbClr val="263345"/>
                </a:solidFill>
                <a:latin typeface="Aptos"/>
              </a:defRPr>
            </a:pPr>
            <a:r>
              <a:t>RPO: acceptable amount of data loss measured in time.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46" name=""/>
        <p:cNvGrpSpPr/>
        <p:nvPr/>
      </p:nvGrpSpPr>
      <p:grpSpPr>
        <a:xfrm/>
      </p:grpSpPr>
      <p:sp>
        <p:nvSpPr>
          <p:cNvPr id="1048718" name="TextBox 1"/>
          <p:cNvSpPr txBox="1"/>
          <p:nvPr/>
        </p:nvSpPr>
        <p:spPr>
          <a:xfrm>
            <a:off x="594360" y="320040"/>
            <a:ext cx="10972800" cy="548640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2800">
                <a:solidFill>
                  <a:srgbClr val="0E1F3A"/>
                </a:solidFill>
                <a:latin typeface="Aptos"/>
              </a:defRPr>
            </a:pPr>
            <a:r>
              <a:t>Platform Services, Databases and Hybrid Cloud</a:t>
            </a:r>
          </a:p>
        </p:txBody>
      </p:sp>
      <p:sp>
        <p:nvSpPr>
          <p:cNvPr id="1048719" name="Rectangle 2"/>
          <p:cNvSpPr/>
          <p:nvPr/>
        </p:nvSpPr>
        <p:spPr>
          <a:xfrm>
            <a:off x="621792" y="987552"/>
            <a:ext cx="1051560" cy="50292"/>
          </a:xfrm>
          <a:prstGeom prst="rect"/>
          <a:solidFill>
            <a:srgbClr val="3D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20" name="TextBox 3"/>
          <p:cNvSpPr txBox="1"/>
          <p:nvPr/>
        </p:nvSpPr>
        <p:spPr>
          <a:xfrm>
            <a:off x="621792" y="1078992"/>
            <a:ext cx="10881360" cy="384048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Managed services reduce infrastructure administration</a:t>
            </a:r>
          </a:p>
        </p:txBody>
      </p:sp>
      <p:sp>
        <p:nvSpPr>
          <p:cNvPr id="1048721" name="TextBox 4"/>
          <p:cNvSpPr txBox="1"/>
          <p:nvPr/>
        </p:nvSpPr>
        <p:spPr>
          <a:xfrm>
            <a:off x="621792" y="6510528"/>
            <a:ext cx="10972800" cy="201168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800">
                <a:solidFill>
                  <a:srgbClr val="5B6C80"/>
                </a:solidFill>
                <a:latin typeface="Aptos"/>
              </a:defRPr>
            </a:pPr>
            <a:r>
              <a:t>CLOUD COMPUTING  •  SUMMER INTERNSHIP                                      12</a:t>
            </a:r>
          </a:p>
        </p:txBody>
      </p:sp>
      <p:sp>
        <p:nvSpPr>
          <p:cNvPr id="1048722" name="Rounded Rectangle 5"/>
          <p:cNvSpPr/>
          <p:nvPr/>
        </p:nvSpPr>
        <p:spPr>
          <a:xfrm>
            <a:off x="731520" y="1737360"/>
            <a:ext cx="3474720" cy="2103120"/>
          </a:xfrm>
          <a:prstGeom prst="roundRect"/>
          <a:solidFill>
            <a:srgbClr val="FFFFFF"/>
          </a:solidFill>
          <a:ln>
            <a:solidFill>
              <a:srgbClr val="D2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23" name="Rectangle 6"/>
          <p:cNvSpPr/>
          <p:nvPr/>
        </p:nvSpPr>
        <p:spPr>
          <a:xfrm>
            <a:off x="731520" y="1737360"/>
            <a:ext cx="82296" cy="2103120"/>
          </a:xfrm>
          <a:prstGeom prst="rect"/>
          <a:solidFill>
            <a:srgbClr val="23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24" name="TextBox 7"/>
          <p:cNvSpPr txBox="1"/>
          <p:nvPr/>
        </p:nvSpPr>
        <p:spPr>
          <a:xfrm>
            <a:off x="932688" y="1883664"/>
            <a:ext cx="3127248" cy="347472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1700">
                <a:solidFill>
                  <a:srgbClr val="0E1F3A"/>
                </a:solidFill>
                <a:latin typeface="Aptos"/>
              </a:defRPr>
            </a:pPr>
            <a:r>
              <a:t>PaaS</a:t>
            </a:r>
          </a:p>
        </p:txBody>
      </p:sp>
      <p:sp>
        <p:nvSpPr>
          <p:cNvPr id="1048725" name="TextBox 8"/>
          <p:cNvSpPr txBox="1"/>
          <p:nvPr/>
        </p:nvSpPr>
        <p:spPr>
          <a:xfrm>
            <a:off x="932688" y="2304288"/>
            <a:ext cx="3108960" cy="1444751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Heroku and Google App Engine were explored for deploying applications without managing the full server stack.</a:t>
            </a:r>
          </a:p>
        </p:txBody>
      </p:sp>
      <p:sp>
        <p:nvSpPr>
          <p:cNvPr id="1048726" name="Rounded Rectangle 9"/>
          <p:cNvSpPr/>
          <p:nvPr/>
        </p:nvSpPr>
        <p:spPr>
          <a:xfrm>
            <a:off x="4389120" y="1737360"/>
            <a:ext cx="3474720" cy="2103120"/>
          </a:xfrm>
          <a:prstGeom prst="roundRect"/>
          <a:solidFill>
            <a:srgbClr val="FFFFFF"/>
          </a:solidFill>
          <a:ln>
            <a:solidFill>
              <a:srgbClr val="D2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27" name="Rectangle 10"/>
          <p:cNvSpPr/>
          <p:nvPr/>
        </p:nvSpPr>
        <p:spPr>
          <a:xfrm>
            <a:off x="4389120" y="1737360"/>
            <a:ext cx="82296" cy="2103120"/>
          </a:xfrm>
          <a:prstGeom prst="rect"/>
          <a:solidFill>
            <a:srgbClr val="3D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28" name="TextBox 11"/>
          <p:cNvSpPr txBox="1"/>
          <p:nvPr/>
        </p:nvSpPr>
        <p:spPr>
          <a:xfrm>
            <a:off x="4590288" y="1883664"/>
            <a:ext cx="3127248" cy="347472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1700">
                <a:solidFill>
                  <a:srgbClr val="0E1F3A"/>
                </a:solidFill>
                <a:latin typeface="Aptos"/>
              </a:defRPr>
            </a:pPr>
            <a:r>
              <a:t>DBaaS</a:t>
            </a:r>
          </a:p>
        </p:txBody>
      </p:sp>
      <p:sp>
        <p:nvSpPr>
          <p:cNvPr id="1048729" name="TextBox 12"/>
          <p:cNvSpPr txBox="1"/>
          <p:nvPr/>
        </p:nvSpPr>
        <p:spPr>
          <a:xfrm>
            <a:off x="4590288" y="2304288"/>
            <a:ext cx="3108960" cy="1444751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Amazon RDS and Firebase were studied for managed database capabilities such as backups and scaling.</a:t>
            </a:r>
          </a:p>
        </p:txBody>
      </p:sp>
      <p:sp>
        <p:nvSpPr>
          <p:cNvPr id="1048730" name="Rounded Rectangle 13"/>
          <p:cNvSpPr/>
          <p:nvPr/>
        </p:nvSpPr>
        <p:spPr>
          <a:xfrm>
            <a:off x="8046720" y="1737360"/>
            <a:ext cx="3474720" cy="2103120"/>
          </a:xfrm>
          <a:prstGeom prst="roundRect"/>
          <a:solidFill>
            <a:srgbClr val="FFFFFF"/>
          </a:solidFill>
          <a:ln>
            <a:solidFill>
              <a:srgbClr val="D2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31" name="Rectangle 14"/>
          <p:cNvSpPr/>
          <p:nvPr/>
        </p:nvSpPr>
        <p:spPr>
          <a:xfrm>
            <a:off x="8046720" y="1737360"/>
            <a:ext cx="82296" cy="2103120"/>
          </a:xfrm>
          <a:prstGeom prst="rect"/>
          <a:solidFill>
            <a:srgbClr val="27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32" name="TextBox 15"/>
          <p:cNvSpPr txBox="1"/>
          <p:nvPr/>
        </p:nvSpPr>
        <p:spPr>
          <a:xfrm>
            <a:off x="8247888" y="1883664"/>
            <a:ext cx="3127248" cy="347472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1700">
                <a:solidFill>
                  <a:srgbClr val="0E1F3A"/>
                </a:solidFill>
                <a:latin typeface="Aptos"/>
              </a:defRPr>
            </a:pPr>
            <a:r>
              <a:t>Hybrid Cloud</a:t>
            </a:r>
          </a:p>
        </p:txBody>
      </p:sp>
      <p:sp>
        <p:nvSpPr>
          <p:cNvPr id="1048733" name="TextBox 16"/>
          <p:cNvSpPr txBox="1"/>
          <p:nvPr/>
        </p:nvSpPr>
        <p:spPr>
          <a:xfrm>
            <a:off x="8247888" y="2304288"/>
            <a:ext cx="3108960" cy="1444751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Combines on-premises systems with cloud services through secure connectivity.</a:t>
            </a:r>
          </a:p>
        </p:txBody>
      </p:sp>
      <p:sp>
        <p:nvSpPr>
          <p:cNvPr id="1048734" name="TextBox 17"/>
          <p:cNvSpPr txBox="1"/>
          <p:nvPr/>
        </p:nvSpPr>
        <p:spPr>
          <a:xfrm>
            <a:off x="914400" y="4434840"/>
            <a:ext cx="10241280" cy="502920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1800">
                <a:solidFill>
                  <a:srgbClr val="0E1F3A"/>
                </a:solidFill>
                <a:latin typeface="Aptos"/>
              </a:defRPr>
            </a:pPr>
            <a:r>
              <a:t>Provider choice depends on workload, skills, compliance needs and cost.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47" name=""/>
        <p:cNvGrpSpPr/>
        <p:nvPr/>
      </p:nvGrpSpPr>
      <p:grpSpPr>
        <a:xfrm/>
      </p:grpSpPr>
      <p:sp>
        <p:nvSpPr>
          <p:cNvPr id="1048735" name="TextBox 1"/>
          <p:cNvSpPr txBox="1"/>
          <p:nvPr/>
        </p:nvSpPr>
        <p:spPr>
          <a:xfrm>
            <a:off x="594360" y="320040"/>
            <a:ext cx="10972800" cy="548640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2800">
                <a:solidFill>
                  <a:srgbClr val="0E1F3A"/>
                </a:solidFill>
                <a:latin typeface="Aptos"/>
              </a:defRPr>
            </a:pPr>
            <a:r>
              <a:t>Cloud Cost Management</a:t>
            </a:r>
          </a:p>
        </p:txBody>
      </p:sp>
      <p:sp>
        <p:nvSpPr>
          <p:cNvPr id="1048736" name="Rectangle 2"/>
          <p:cNvSpPr/>
          <p:nvPr/>
        </p:nvSpPr>
        <p:spPr>
          <a:xfrm>
            <a:off x="621792" y="987552"/>
            <a:ext cx="1051560" cy="50292"/>
          </a:xfrm>
          <a:prstGeom prst="rect"/>
          <a:solidFill>
            <a:srgbClr val="3D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37" name="TextBox 3"/>
          <p:cNvSpPr txBox="1"/>
          <p:nvPr/>
        </p:nvSpPr>
        <p:spPr>
          <a:xfrm>
            <a:off x="621792" y="1078992"/>
            <a:ext cx="10881360" cy="384048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Balancing performance, reliability and spending</a:t>
            </a:r>
          </a:p>
        </p:txBody>
      </p:sp>
      <p:sp>
        <p:nvSpPr>
          <p:cNvPr id="1048738" name="TextBox 4"/>
          <p:cNvSpPr txBox="1"/>
          <p:nvPr/>
        </p:nvSpPr>
        <p:spPr>
          <a:xfrm>
            <a:off x="621792" y="6510528"/>
            <a:ext cx="10972800" cy="201168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800">
                <a:solidFill>
                  <a:srgbClr val="5B6C80"/>
                </a:solidFill>
                <a:latin typeface="Aptos"/>
              </a:defRPr>
            </a:pPr>
            <a:r>
              <a:t>CLOUD COMPUTING  •  SUMMER INTERNSHIP                                      13</a:t>
            </a:r>
          </a:p>
        </p:txBody>
      </p:sp>
      <p:sp>
        <p:nvSpPr>
          <p:cNvPr id="1048739" name="TextBox 5"/>
          <p:cNvSpPr txBox="1"/>
          <p:nvPr/>
        </p:nvSpPr>
        <p:spPr>
          <a:xfrm>
            <a:off x="777240" y="1645920"/>
            <a:ext cx="10789920" cy="4480560"/>
          </a:xfrm>
          <a:prstGeom prst="rect"/>
          <a:noFill/>
        </p:spPr>
        <p:txBody>
          <a:bodyPr bIns="73152" tIns="73152" wrap="square">
            <a:spAutoFit/>
          </a:bodyPr>
          <a:p>
            <a:pPr>
              <a:spcAft>
                <a:spcPts val="1200"/>
              </a:spcAft>
              <a:defRPr sz="1800">
                <a:solidFill>
                  <a:srgbClr val="263345"/>
                </a:solidFill>
                <a:latin typeface="Aptos"/>
              </a:defRPr>
            </a:pPr>
            <a:r>
              <a:t>Pricing models studied: on-demand, reserved instances, spot/preemptible capacity and free tiers.</a:t>
            </a:r>
          </a:p>
          <a:p>
            <a:pPr>
              <a:spcAft>
                <a:spcPts val="1200"/>
              </a:spcAft>
              <a:defRPr sz="1800">
                <a:solidFill>
                  <a:srgbClr val="263345"/>
                </a:solidFill>
                <a:latin typeface="Aptos"/>
              </a:defRPr>
            </a:pPr>
            <a:r>
              <a:t>Right-size instances to match actual CPU and memory usage.</a:t>
            </a:r>
          </a:p>
          <a:p>
            <a:pPr>
              <a:spcAft>
                <a:spcPts val="1200"/>
              </a:spcAft>
              <a:defRPr sz="1800">
                <a:solidFill>
                  <a:srgbClr val="263345"/>
                </a:solidFill>
                <a:latin typeface="Aptos"/>
              </a:defRPr>
            </a:pPr>
            <a:r>
              <a:t>Move rarely used data to lower-cost storage tiers and remove unused resources.</a:t>
            </a:r>
          </a:p>
          <a:p>
            <a:pPr>
              <a:spcAft>
                <a:spcPts val="1200"/>
              </a:spcAft>
              <a:defRPr sz="1800">
                <a:solidFill>
                  <a:srgbClr val="263345"/>
                </a:solidFill>
                <a:latin typeface="Aptos"/>
              </a:defRPr>
            </a:pPr>
            <a:r>
              <a:t>Use budgets and alerts to identify spending before it exceeds a planned limit.</a:t>
            </a:r>
          </a:p>
          <a:p>
            <a:pPr>
              <a:spcAft>
                <a:spcPts val="1200"/>
              </a:spcAft>
              <a:defRPr sz="1800">
                <a:solidFill>
                  <a:srgbClr val="263345"/>
                </a:solidFill>
                <a:latin typeface="Aptos"/>
              </a:defRPr>
            </a:pPr>
            <a:r>
              <a:t>Tools named in the report include AWS Cost Explorer and Azure Cost Management.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48" name=""/>
        <p:cNvGrpSpPr/>
        <p:nvPr/>
      </p:nvGrpSpPr>
      <p:grpSpPr>
        <a:xfrm/>
      </p:grpSpPr>
      <p:sp>
        <p:nvSpPr>
          <p:cNvPr id="1048740" name="TextBox 1"/>
          <p:cNvSpPr txBox="1"/>
          <p:nvPr/>
        </p:nvSpPr>
        <p:spPr>
          <a:xfrm>
            <a:off x="594360" y="320040"/>
            <a:ext cx="10972800" cy="548640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2800">
                <a:solidFill>
                  <a:srgbClr val="0E1F3A"/>
                </a:solidFill>
                <a:latin typeface="Aptos"/>
              </a:defRPr>
            </a:pPr>
            <a:r>
              <a:t>DevOps, CI/CD and Infrastructure as Code</a:t>
            </a:r>
          </a:p>
        </p:txBody>
      </p:sp>
      <p:sp>
        <p:nvSpPr>
          <p:cNvPr id="1048741" name="Rectangle 2"/>
          <p:cNvSpPr/>
          <p:nvPr/>
        </p:nvSpPr>
        <p:spPr>
          <a:xfrm>
            <a:off x="621792" y="987552"/>
            <a:ext cx="1051560" cy="50292"/>
          </a:xfrm>
          <a:prstGeom prst="rect"/>
          <a:solidFill>
            <a:srgbClr val="3D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42" name="TextBox 3"/>
          <p:cNvSpPr txBox="1"/>
          <p:nvPr/>
        </p:nvSpPr>
        <p:spPr>
          <a:xfrm>
            <a:off x="621792" y="1078992"/>
            <a:ext cx="10881360" cy="384048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Automating delivery and infrastructure setup</a:t>
            </a:r>
          </a:p>
        </p:txBody>
      </p:sp>
      <p:sp>
        <p:nvSpPr>
          <p:cNvPr id="1048743" name="TextBox 4"/>
          <p:cNvSpPr txBox="1"/>
          <p:nvPr/>
        </p:nvSpPr>
        <p:spPr>
          <a:xfrm>
            <a:off x="621792" y="6510528"/>
            <a:ext cx="10972800" cy="201168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800">
                <a:solidFill>
                  <a:srgbClr val="5B6C80"/>
                </a:solidFill>
                <a:latin typeface="Aptos"/>
              </a:defRPr>
            </a:pPr>
            <a:r>
              <a:t>CLOUD COMPUTING  •  SUMMER INTERNSHIP                                      14</a:t>
            </a:r>
          </a:p>
        </p:txBody>
      </p:sp>
      <p:sp>
        <p:nvSpPr>
          <p:cNvPr id="1048744" name="Rounded Rectangle 5"/>
          <p:cNvSpPr/>
          <p:nvPr/>
        </p:nvSpPr>
        <p:spPr>
          <a:xfrm>
            <a:off x="731520" y="1737360"/>
            <a:ext cx="5257800" cy="2011680"/>
          </a:xfrm>
          <a:prstGeom prst="roundRect"/>
          <a:solidFill>
            <a:srgbClr val="FFFFFF"/>
          </a:solidFill>
          <a:ln>
            <a:solidFill>
              <a:srgbClr val="D2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45" name="Rectangle 6"/>
          <p:cNvSpPr/>
          <p:nvPr/>
        </p:nvSpPr>
        <p:spPr>
          <a:xfrm>
            <a:off x="731520" y="1737360"/>
            <a:ext cx="82296" cy="2011680"/>
          </a:xfrm>
          <a:prstGeom prst="rect"/>
          <a:solidFill>
            <a:srgbClr val="23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46" name="TextBox 7"/>
          <p:cNvSpPr txBox="1"/>
          <p:nvPr/>
        </p:nvSpPr>
        <p:spPr>
          <a:xfrm>
            <a:off x="932688" y="1883664"/>
            <a:ext cx="4910328" cy="347472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1700">
                <a:solidFill>
                  <a:srgbClr val="0E1F3A"/>
                </a:solidFill>
                <a:latin typeface="Aptos"/>
              </a:defRPr>
            </a:pPr>
            <a:r>
              <a:t>CI/CD</a:t>
            </a:r>
          </a:p>
        </p:txBody>
      </p:sp>
      <p:sp>
        <p:nvSpPr>
          <p:cNvPr id="1048747" name="TextBox 8"/>
          <p:cNvSpPr txBox="1"/>
          <p:nvPr/>
        </p:nvSpPr>
        <p:spPr>
          <a:xfrm>
            <a:off x="932688" y="2304288"/>
            <a:ext cx="4892040" cy="1353312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GitHub Actions and AWS CodePipeline were studied for automated build, test and deployment workflows.</a:t>
            </a:r>
          </a:p>
        </p:txBody>
      </p:sp>
      <p:sp>
        <p:nvSpPr>
          <p:cNvPr id="1048748" name="Rounded Rectangle 9"/>
          <p:cNvSpPr/>
          <p:nvPr/>
        </p:nvSpPr>
        <p:spPr>
          <a:xfrm>
            <a:off x="6217920" y="1737360"/>
            <a:ext cx="5257800" cy="2011680"/>
          </a:xfrm>
          <a:prstGeom prst="roundRect"/>
          <a:solidFill>
            <a:srgbClr val="FFFFFF"/>
          </a:solidFill>
          <a:ln>
            <a:solidFill>
              <a:srgbClr val="D2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49" name="Rectangle 10"/>
          <p:cNvSpPr/>
          <p:nvPr/>
        </p:nvSpPr>
        <p:spPr>
          <a:xfrm>
            <a:off x="6217920" y="1737360"/>
            <a:ext cx="82296" cy="2011680"/>
          </a:xfrm>
          <a:prstGeom prst="rect"/>
          <a:solidFill>
            <a:srgbClr val="3D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50" name="TextBox 11"/>
          <p:cNvSpPr txBox="1"/>
          <p:nvPr/>
        </p:nvSpPr>
        <p:spPr>
          <a:xfrm>
            <a:off x="6419088" y="1883664"/>
            <a:ext cx="4910328" cy="347472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1700">
                <a:solidFill>
                  <a:srgbClr val="0E1F3A"/>
                </a:solidFill>
                <a:latin typeface="Aptos"/>
              </a:defRPr>
            </a:pPr>
            <a:r>
              <a:t>Infrastructure as Code</a:t>
            </a:r>
          </a:p>
        </p:txBody>
      </p:sp>
      <p:sp>
        <p:nvSpPr>
          <p:cNvPr id="1048751" name="TextBox 12"/>
          <p:cNvSpPr txBox="1"/>
          <p:nvPr/>
        </p:nvSpPr>
        <p:spPr>
          <a:xfrm>
            <a:off x="6419088" y="2304288"/>
            <a:ext cx="4892040" cy="1353312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Terraform and AWS CloudFormation define infrastructure in version-controlled files for repeatable provisioning.</a:t>
            </a:r>
          </a:p>
        </p:txBody>
      </p:sp>
      <p:sp>
        <p:nvSpPr>
          <p:cNvPr id="1048752" name="TextBox 13"/>
          <p:cNvSpPr txBox="1"/>
          <p:nvPr/>
        </p:nvSpPr>
        <p:spPr>
          <a:xfrm>
            <a:off x="914400" y="4251960"/>
            <a:ext cx="10424160" cy="914400"/>
          </a:xfrm>
          <a:prstGeom prst="rect"/>
          <a:noFill/>
        </p:spPr>
        <p:txBody>
          <a:bodyPr bIns="73152" tIns="73152" wrap="square">
            <a:spAutoFit/>
          </a:bodyPr>
          <a:p>
            <a:pPr>
              <a:spcAft>
                <a:spcPts val="800"/>
              </a:spcAft>
              <a:defRPr sz="1800">
                <a:solidFill>
                  <a:srgbClr val="263345"/>
                </a:solidFill>
                <a:latin typeface="Aptos"/>
              </a:defRPr>
            </a:pPr>
            <a:r>
              <a:t>Benefits: faster deployments, reproducible environments, collaboration and fewer manual configuration errors.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49" name=""/>
        <p:cNvGrpSpPr/>
        <p:nvPr/>
      </p:nvGrpSpPr>
      <p:grpSpPr>
        <a:xfrm/>
      </p:grpSpPr>
      <p:sp>
        <p:nvSpPr>
          <p:cNvPr id="1048753" name="TextBox 1"/>
          <p:cNvSpPr txBox="1"/>
          <p:nvPr/>
        </p:nvSpPr>
        <p:spPr>
          <a:xfrm>
            <a:off x="594360" y="320040"/>
            <a:ext cx="10972800" cy="548640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2800">
                <a:solidFill>
                  <a:srgbClr val="0E1F3A"/>
                </a:solidFill>
                <a:latin typeface="Aptos"/>
              </a:defRPr>
            </a:pPr>
            <a:r>
              <a:t>Microservices, Kubernetes and Serverless</a:t>
            </a:r>
          </a:p>
        </p:txBody>
      </p:sp>
      <p:sp>
        <p:nvSpPr>
          <p:cNvPr id="1048754" name="Rectangle 2"/>
          <p:cNvSpPr/>
          <p:nvPr/>
        </p:nvSpPr>
        <p:spPr>
          <a:xfrm>
            <a:off x="621792" y="987552"/>
            <a:ext cx="1051560" cy="50292"/>
          </a:xfrm>
          <a:prstGeom prst="rect"/>
          <a:solidFill>
            <a:srgbClr val="3D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55" name="TextBox 3"/>
          <p:cNvSpPr txBox="1"/>
          <p:nvPr/>
        </p:nvSpPr>
        <p:spPr>
          <a:xfrm>
            <a:off x="621792" y="1078992"/>
            <a:ext cx="10881360" cy="384048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Cloud-native approaches support independent deployment and scaling</a:t>
            </a:r>
          </a:p>
        </p:txBody>
      </p:sp>
      <p:sp>
        <p:nvSpPr>
          <p:cNvPr id="1048756" name="TextBox 4"/>
          <p:cNvSpPr txBox="1"/>
          <p:nvPr/>
        </p:nvSpPr>
        <p:spPr>
          <a:xfrm>
            <a:off x="621792" y="6510528"/>
            <a:ext cx="10972800" cy="201168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800">
                <a:solidFill>
                  <a:srgbClr val="5B6C80"/>
                </a:solidFill>
                <a:latin typeface="Aptos"/>
              </a:defRPr>
            </a:pPr>
            <a:r>
              <a:t>CLOUD COMPUTING  •  SUMMER INTERNSHIP                                      15</a:t>
            </a:r>
          </a:p>
        </p:txBody>
      </p:sp>
      <p:sp>
        <p:nvSpPr>
          <p:cNvPr id="1048757" name="Rounded Rectangle 5"/>
          <p:cNvSpPr/>
          <p:nvPr/>
        </p:nvSpPr>
        <p:spPr>
          <a:xfrm>
            <a:off x="731520" y="1737360"/>
            <a:ext cx="3474720" cy="2286000"/>
          </a:xfrm>
          <a:prstGeom prst="roundRect"/>
          <a:solidFill>
            <a:srgbClr val="FFFFFF"/>
          </a:solidFill>
          <a:ln>
            <a:solidFill>
              <a:srgbClr val="D2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58" name="Rectangle 6"/>
          <p:cNvSpPr/>
          <p:nvPr/>
        </p:nvSpPr>
        <p:spPr>
          <a:xfrm>
            <a:off x="731520" y="1737360"/>
            <a:ext cx="82296" cy="2286000"/>
          </a:xfrm>
          <a:prstGeom prst="rect"/>
          <a:solidFill>
            <a:srgbClr val="23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59" name="TextBox 7"/>
          <p:cNvSpPr txBox="1"/>
          <p:nvPr/>
        </p:nvSpPr>
        <p:spPr>
          <a:xfrm>
            <a:off x="932688" y="1883664"/>
            <a:ext cx="3127248" cy="347472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1700">
                <a:solidFill>
                  <a:srgbClr val="0E1F3A"/>
                </a:solidFill>
                <a:latin typeface="Aptos"/>
              </a:defRPr>
            </a:pPr>
            <a:r>
              <a:t>Microservices</a:t>
            </a:r>
          </a:p>
        </p:txBody>
      </p:sp>
      <p:sp>
        <p:nvSpPr>
          <p:cNvPr id="1048760" name="TextBox 8"/>
          <p:cNvSpPr txBox="1"/>
          <p:nvPr/>
        </p:nvSpPr>
        <p:spPr>
          <a:xfrm>
            <a:off x="932688" y="2304288"/>
            <a:ext cx="3108960" cy="1627632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Break an application into smaller independent services.</a:t>
            </a:r>
          </a:p>
        </p:txBody>
      </p:sp>
      <p:sp>
        <p:nvSpPr>
          <p:cNvPr id="1048761" name="Rounded Rectangle 9"/>
          <p:cNvSpPr/>
          <p:nvPr/>
        </p:nvSpPr>
        <p:spPr>
          <a:xfrm>
            <a:off x="4389120" y="1737360"/>
            <a:ext cx="3474720" cy="2286000"/>
          </a:xfrm>
          <a:prstGeom prst="roundRect"/>
          <a:solidFill>
            <a:srgbClr val="FFFFFF"/>
          </a:solidFill>
          <a:ln>
            <a:solidFill>
              <a:srgbClr val="D2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62" name="Rectangle 10"/>
          <p:cNvSpPr/>
          <p:nvPr/>
        </p:nvSpPr>
        <p:spPr>
          <a:xfrm>
            <a:off x="4389120" y="1737360"/>
            <a:ext cx="82296" cy="2286000"/>
          </a:xfrm>
          <a:prstGeom prst="rect"/>
          <a:solidFill>
            <a:srgbClr val="3D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63" name="TextBox 11"/>
          <p:cNvSpPr txBox="1"/>
          <p:nvPr/>
        </p:nvSpPr>
        <p:spPr>
          <a:xfrm>
            <a:off x="4590288" y="1883664"/>
            <a:ext cx="3127248" cy="347472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1700">
                <a:solidFill>
                  <a:srgbClr val="0E1F3A"/>
                </a:solidFill>
                <a:latin typeface="Aptos"/>
              </a:defRPr>
            </a:pPr>
            <a:r>
              <a:t>Kubernetes</a:t>
            </a:r>
          </a:p>
        </p:txBody>
      </p:sp>
      <p:sp>
        <p:nvSpPr>
          <p:cNvPr id="1048764" name="TextBox 12"/>
          <p:cNvSpPr txBox="1"/>
          <p:nvPr/>
        </p:nvSpPr>
        <p:spPr>
          <a:xfrm>
            <a:off x="4590288" y="2304288"/>
            <a:ext cx="3108960" cy="1627632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Orchestrates containers, schedules pods and supports scaling and recovery.</a:t>
            </a:r>
          </a:p>
        </p:txBody>
      </p:sp>
      <p:sp>
        <p:nvSpPr>
          <p:cNvPr id="1048765" name="Rounded Rectangle 13"/>
          <p:cNvSpPr/>
          <p:nvPr/>
        </p:nvSpPr>
        <p:spPr>
          <a:xfrm>
            <a:off x="8046720" y="1737360"/>
            <a:ext cx="3474720" cy="2286000"/>
          </a:xfrm>
          <a:prstGeom prst="roundRect"/>
          <a:solidFill>
            <a:srgbClr val="FFFFFF"/>
          </a:solidFill>
          <a:ln>
            <a:solidFill>
              <a:srgbClr val="D2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66" name="Rectangle 14"/>
          <p:cNvSpPr/>
          <p:nvPr/>
        </p:nvSpPr>
        <p:spPr>
          <a:xfrm>
            <a:off x="8046720" y="1737360"/>
            <a:ext cx="82296" cy="2286000"/>
          </a:xfrm>
          <a:prstGeom prst="rect"/>
          <a:solidFill>
            <a:srgbClr val="27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67" name="TextBox 15"/>
          <p:cNvSpPr txBox="1"/>
          <p:nvPr/>
        </p:nvSpPr>
        <p:spPr>
          <a:xfrm>
            <a:off x="8247888" y="1883664"/>
            <a:ext cx="3127248" cy="347472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1700">
                <a:solidFill>
                  <a:srgbClr val="0E1F3A"/>
                </a:solidFill>
                <a:latin typeface="Aptos"/>
              </a:defRPr>
            </a:pPr>
            <a:r>
              <a:t>Serverless</a:t>
            </a:r>
          </a:p>
        </p:txBody>
      </p:sp>
      <p:sp>
        <p:nvSpPr>
          <p:cNvPr id="1048768" name="TextBox 16"/>
          <p:cNvSpPr txBox="1"/>
          <p:nvPr/>
        </p:nvSpPr>
        <p:spPr>
          <a:xfrm>
            <a:off x="8247888" y="2304288"/>
            <a:ext cx="3108960" cy="1627632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AWS Lambda and Azure Functions run code in response to events.</a:t>
            </a:r>
          </a:p>
        </p:txBody>
      </p:sp>
      <p:sp>
        <p:nvSpPr>
          <p:cNvPr id="1048769" name="TextBox 17"/>
          <p:cNvSpPr txBox="1"/>
          <p:nvPr/>
        </p:nvSpPr>
        <p:spPr>
          <a:xfrm>
            <a:off x="914400" y="4572000"/>
            <a:ext cx="10241280" cy="457200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1700">
                <a:solidFill>
                  <a:srgbClr val="0E1F3A"/>
                </a:solidFill>
                <a:latin typeface="Aptos"/>
              </a:defRPr>
            </a:pPr>
            <a:r>
              <a:t>The report explored container orchestration and event-driven application patterns.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50" name=""/>
        <p:cNvGrpSpPr/>
        <p:nvPr/>
      </p:nvGrpSpPr>
      <p:grpSpPr>
        <a:xfrm/>
      </p:grpSpPr>
      <p:sp>
        <p:nvSpPr>
          <p:cNvPr id="1048770" name="TextBox 1"/>
          <p:cNvSpPr txBox="1"/>
          <p:nvPr/>
        </p:nvSpPr>
        <p:spPr>
          <a:xfrm>
            <a:off x="594360" y="320040"/>
            <a:ext cx="10972800" cy="548640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2800">
                <a:solidFill>
                  <a:srgbClr val="0E1F3A"/>
                </a:solidFill>
                <a:latin typeface="Aptos"/>
              </a:defRPr>
            </a:pPr>
            <a:r>
              <a:t>Migration, Monitoring and Data Services</a:t>
            </a:r>
          </a:p>
        </p:txBody>
      </p:sp>
      <p:sp>
        <p:nvSpPr>
          <p:cNvPr id="1048771" name="Rectangle 2"/>
          <p:cNvSpPr/>
          <p:nvPr/>
        </p:nvSpPr>
        <p:spPr>
          <a:xfrm>
            <a:off x="621792" y="987552"/>
            <a:ext cx="1051560" cy="50292"/>
          </a:xfrm>
          <a:prstGeom prst="rect"/>
          <a:solidFill>
            <a:srgbClr val="3D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72" name="TextBox 3"/>
          <p:cNvSpPr txBox="1"/>
          <p:nvPr/>
        </p:nvSpPr>
        <p:spPr>
          <a:xfrm>
            <a:off x="621792" y="1078992"/>
            <a:ext cx="10881360" cy="384048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Operate, observe and integrate cloud applications</a:t>
            </a:r>
          </a:p>
        </p:txBody>
      </p:sp>
      <p:sp>
        <p:nvSpPr>
          <p:cNvPr id="1048773" name="TextBox 4"/>
          <p:cNvSpPr txBox="1"/>
          <p:nvPr/>
        </p:nvSpPr>
        <p:spPr>
          <a:xfrm>
            <a:off x="621792" y="6510528"/>
            <a:ext cx="10972800" cy="201168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800">
                <a:solidFill>
                  <a:srgbClr val="5B6C80"/>
                </a:solidFill>
                <a:latin typeface="Aptos"/>
              </a:defRPr>
            </a:pPr>
            <a:r>
              <a:t>CLOUD COMPUTING  •  SUMMER INTERNSHIP                                      16</a:t>
            </a:r>
          </a:p>
        </p:txBody>
      </p:sp>
      <p:sp>
        <p:nvSpPr>
          <p:cNvPr id="1048774" name="Rounded Rectangle 5"/>
          <p:cNvSpPr/>
          <p:nvPr/>
        </p:nvSpPr>
        <p:spPr>
          <a:xfrm>
            <a:off x="731520" y="1737360"/>
            <a:ext cx="3474720" cy="2057400"/>
          </a:xfrm>
          <a:prstGeom prst="roundRect"/>
          <a:solidFill>
            <a:srgbClr val="FFFFFF"/>
          </a:solidFill>
          <a:ln>
            <a:solidFill>
              <a:srgbClr val="D2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75" name="Rectangle 6"/>
          <p:cNvSpPr/>
          <p:nvPr/>
        </p:nvSpPr>
        <p:spPr>
          <a:xfrm>
            <a:off x="731520" y="1737360"/>
            <a:ext cx="82296" cy="2057400"/>
          </a:xfrm>
          <a:prstGeom prst="rect"/>
          <a:solidFill>
            <a:srgbClr val="23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76" name="TextBox 7"/>
          <p:cNvSpPr txBox="1"/>
          <p:nvPr/>
        </p:nvSpPr>
        <p:spPr>
          <a:xfrm>
            <a:off x="932688" y="1883664"/>
            <a:ext cx="3127248" cy="347472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1700">
                <a:solidFill>
                  <a:srgbClr val="0E1F3A"/>
                </a:solidFill>
                <a:latin typeface="Aptos"/>
              </a:defRPr>
            </a:pPr>
            <a:r>
              <a:t>Migration</a:t>
            </a:r>
          </a:p>
        </p:txBody>
      </p:sp>
      <p:sp>
        <p:nvSpPr>
          <p:cNvPr id="1048777" name="TextBox 8"/>
          <p:cNvSpPr txBox="1"/>
          <p:nvPr/>
        </p:nvSpPr>
        <p:spPr>
          <a:xfrm>
            <a:off x="932688" y="2304288"/>
            <a:ext cx="3108960" cy="1399032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Rehost, replatform, refactor, repurchase, retire or retain applications.</a:t>
            </a:r>
          </a:p>
        </p:txBody>
      </p:sp>
      <p:sp>
        <p:nvSpPr>
          <p:cNvPr id="1048778" name="Rounded Rectangle 9"/>
          <p:cNvSpPr/>
          <p:nvPr/>
        </p:nvSpPr>
        <p:spPr>
          <a:xfrm>
            <a:off x="4389120" y="1737360"/>
            <a:ext cx="3474720" cy="2057400"/>
          </a:xfrm>
          <a:prstGeom prst="roundRect"/>
          <a:solidFill>
            <a:srgbClr val="FFFFFF"/>
          </a:solidFill>
          <a:ln>
            <a:solidFill>
              <a:srgbClr val="D2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79" name="Rectangle 10"/>
          <p:cNvSpPr/>
          <p:nvPr/>
        </p:nvSpPr>
        <p:spPr>
          <a:xfrm>
            <a:off x="4389120" y="1737360"/>
            <a:ext cx="82296" cy="2057400"/>
          </a:xfrm>
          <a:prstGeom prst="rect"/>
          <a:solidFill>
            <a:srgbClr val="3D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80" name="TextBox 11"/>
          <p:cNvSpPr txBox="1"/>
          <p:nvPr/>
        </p:nvSpPr>
        <p:spPr>
          <a:xfrm>
            <a:off x="4590288" y="1883664"/>
            <a:ext cx="3127248" cy="347472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1700">
                <a:solidFill>
                  <a:srgbClr val="0E1F3A"/>
                </a:solidFill>
                <a:latin typeface="Aptos"/>
              </a:defRPr>
            </a:pPr>
            <a:r>
              <a:t>Monitoring</a:t>
            </a:r>
          </a:p>
        </p:txBody>
      </p:sp>
      <p:sp>
        <p:nvSpPr>
          <p:cNvPr id="1048781" name="TextBox 12"/>
          <p:cNvSpPr txBox="1"/>
          <p:nvPr/>
        </p:nvSpPr>
        <p:spPr>
          <a:xfrm>
            <a:off x="4590288" y="2304288"/>
            <a:ext cx="3108960" cy="1399032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Prometheus, Grafana and CloudWatch help track metrics, logs and alarms.</a:t>
            </a:r>
          </a:p>
        </p:txBody>
      </p:sp>
      <p:sp>
        <p:nvSpPr>
          <p:cNvPr id="1048782" name="Rounded Rectangle 13"/>
          <p:cNvSpPr/>
          <p:nvPr/>
        </p:nvSpPr>
        <p:spPr>
          <a:xfrm>
            <a:off x="8046720" y="1737360"/>
            <a:ext cx="3474720" cy="2057400"/>
          </a:xfrm>
          <a:prstGeom prst="roundRect"/>
          <a:solidFill>
            <a:srgbClr val="FFFFFF"/>
          </a:solidFill>
          <a:ln>
            <a:solidFill>
              <a:srgbClr val="D2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83" name="Rectangle 14"/>
          <p:cNvSpPr/>
          <p:nvPr/>
        </p:nvSpPr>
        <p:spPr>
          <a:xfrm>
            <a:off x="8046720" y="1737360"/>
            <a:ext cx="82296" cy="2057400"/>
          </a:xfrm>
          <a:prstGeom prst="rect"/>
          <a:solidFill>
            <a:srgbClr val="27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84" name="TextBox 15"/>
          <p:cNvSpPr txBox="1"/>
          <p:nvPr/>
        </p:nvSpPr>
        <p:spPr>
          <a:xfrm>
            <a:off x="8247888" y="1883664"/>
            <a:ext cx="3127248" cy="347472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1700">
                <a:solidFill>
                  <a:srgbClr val="0E1F3A"/>
                </a:solidFill>
                <a:latin typeface="Aptos"/>
              </a:defRPr>
            </a:pPr>
            <a:r>
              <a:t>APIs &amp; Analytics</a:t>
            </a:r>
          </a:p>
        </p:txBody>
      </p:sp>
      <p:sp>
        <p:nvSpPr>
          <p:cNvPr id="1048785" name="TextBox 16"/>
          <p:cNvSpPr txBox="1"/>
          <p:nvPr/>
        </p:nvSpPr>
        <p:spPr>
          <a:xfrm>
            <a:off x="8247888" y="2304288"/>
            <a:ext cx="3108960" cy="1399032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API gateways manage access; Redshift and BigQuery support data warehousing and ETL.</a:t>
            </a:r>
          </a:p>
        </p:txBody>
      </p:sp>
      <p:sp>
        <p:nvSpPr>
          <p:cNvPr id="1048786" name="TextBox 17"/>
          <p:cNvSpPr txBox="1"/>
          <p:nvPr/>
        </p:nvSpPr>
        <p:spPr>
          <a:xfrm>
            <a:off x="914400" y="4389120"/>
            <a:ext cx="10241280" cy="457200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1700">
                <a:solidFill>
                  <a:srgbClr val="0E1F3A"/>
                </a:solidFill>
                <a:latin typeface="Aptos"/>
              </a:defRPr>
            </a:pPr>
            <a:r>
              <a:t>Application frameworks mentioned: AWS Amplify and Azure App Service.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51" name=""/>
        <p:cNvGrpSpPr/>
        <p:nvPr/>
      </p:nvGrpSpPr>
      <p:grpSpPr>
        <a:xfrm/>
      </p:grpSpPr>
      <p:sp>
        <p:nvSpPr>
          <p:cNvPr id="1048787" name="TextBox 1"/>
          <p:cNvSpPr txBox="1"/>
          <p:nvPr/>
        </p:nvSpPr>
        <p:spPr>
          <a:xfrm>
            <a:off x="594360" y="320040"/>
            <a:ext cx="10972800" cy="548640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2800">
                <a:solidFill>
                  <a:srgbClr val="0E1F3A"/>
                </a:solidFill>
                <a:latin typeface="Aptos"/>
              </a:defRPr>
            </a:pPr>
            <a:r>
              <a:t>Mini Project: Scalable Web Application</a:t>
            </a:r>
          </a:p>
        </p:txBody>
      </p:sp>
      <p:sp>
        <p:nvSpPr>
          <p:cNvPr id="1048788" name="Rectangle 2"/>
          <p:cNvSpPr/>
          <p:nvPr/>
        </p:nvSpPr>
        <p:spPr>
          <a:xfrm>
            <a:off x="621792" y="987552"/>
            <a:ext cx="1051560" cy="50292"/>
          </a:xfrm>
          <a:prstGeom prst="rect"/>
          <a:solidFill>
            <a:srgbClr val="3D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89" name="TextBox 3"/>
          <p:cNvSpPr txBox="1"/>
          <p:nvPr/>
        </p:nvSpPr>
        <p:spPr>
          <a:xfrm>
            <a:off x="621792" y="1078992"/>
            <a:ext cx="10881360" cy="384048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Architecture design combining core cloud services</a:t>
            </a:r>
          </a:p>
        </p:txBody>
      </p:sp>
      <p:sp>
        <p:nvSpPr>
          <p:cNvPr id="1048790" name="TextBox 4"/>
          <p:cNvSpPr txBox="1"/>
          <p:nvPr/>
        </p:nvSpPr>
        <p:spPr>
          <a:xfrm>
            <a:off x="621792" y="6510528"/>
            <a:ext cx="10972800" cy="201168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800">
                <a:solidFill>
                  <a:srgbClr val="5B6C80"/>
                </a:solidFill>
                <a:latin typeface="Aptos"/>
              </a:defRPr>
            </a:pPr>
            <a:r>
              <a:t>CLOUD COMPUTING  •  SUMMER INTERNSHIP                                      17</a:t>
            </a:r>
          </a:p>
        </p:txBody>
      </p:sp>
      <p:sp>
        <p:nvSpPr>
          <p:cNvPr id="1048791" name="Rounded Rectangle 5"/>
          <p:cNvSpPr/>
          <p:nvPr/>
        </p:nvSpPr>
        <p:spPr>
          <a:xfrm>
            <a:off x="822960" y="2011680"/>
            <a:ext cx="1920240" cy="822960"/>
          </a:xfrm>
          <a:prstGeom prst="roundRect"/>
          <a:solidFill>
            <a:srgbClr val="23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92" name="TextBox 6"/>
          <p:cNvSpPr txBox="1"/>
          <p:nvPr/>
        </p:nvSpPr>
        <p:spPr>
          <a:xfrm>
            <a:off x="896112" y="2121408"/>
            <a:ext cx="1773936" cy="640080"/>
          </a:xfrm>
          <a:prstGeom prst="rect"/>
          <a:noFill/>
        </p:spPr>
        <p:txBody>
          <a:bodyPr anchor="ctr" bIns="73152" lIns="73152" rIns="73152" tIns="73152" wrap="square">
            <a:spAutoFit/>
          </a:bodyPr>
          <a:p>
            <a:pPr algn="ctr">
              <a:spcAft>
                <a:spcPts val="700"/>
              </a:spcAft>
              <a:defRPr b="1" sz="1500">
                <a:solidFill>
                  <a:srgbClr val="FFFFFF"/>
                </a:solidFill>
                <a:latin typeface="Aptos"/>
              </a:defRPr>
            </a:pPr>
            <a:r>
              <a:t>Users</a:t>
            </a:r>
          </a:p>
        </p:txBody>
      </p:sp>
      <p:sp>
        <p:nvSpPr>
          <p:cNvPr id="1048793" name="Rounded Rectangle 7"/>
          <p:cNvSpPr/>
          <p:nvPr/>
        </p:nvSpPr>
        <p:spPr>
          <a:xfrm>
            <a:off x="3200400" y="2011680"/>
            <a:ext cx="2148840" cy="822960"/>
          </a:xfrm>
          <a:prstGeom prst="roundRect"/>
          <a:solidFill>
            <a:srgbClr val="3D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94" name="TextBox 8"/>
          <p:cNvSpPr txBox="1"/>
          <p:nvPr/>
        </p:nvSpPr>
        <p:spPr>
          <a:xfrm>
            <a:off x="3273552" y="2121408"/>
            <a:ext cx="2002536" cy="640080"/>
          </a:xfrm>
          <a:prstGeom prst="rect"/>
          <a:noFill/>
        </p:spPr>
        <p:txBody>
          <a:bodyPr anchor="ctr" bIns="73152" lIns="73152" rIns="73152" tIns="73152" wrap="square">
            <a:spAutoFit/>
          </a:bodyPr>
          <a:p>
            <a:pPr algn="ctr">
              <a:spcAft>
                <a:spcPts val="700"/>
              </a:spcAft>
              <a:defRPr b="1" sz="1500">
                <a:solidFill>
                  <a:srgbClr val="FFFFFF"/>
                </a:solidFill>
                <a:latin typeface="Aptos"/>
              </a:defRPr>
            </a:pPr>
            <a:r>
              <a:t>Load Balancer</a:t>
            </a:r>
          </a:p>
        </p:txBody>
      </p:sp>
      <p:sp>
        <p:nvSpPr>
          <p:cNvPr id="1048795" name="Rounded Rectangle 9"/>
          <p:cNvSpPr/>
          <p:nvPr/>
        </p:nvSpPr>
        <p:spPr>
          <a:xfrm>
            <a:off x="5943600" y="2011680"/>
            <a:ext cx="2148840" cy="822960"/>
          </a:xfrm>
          <a:prstGeom prst="roundRect"/>
          <a:solidFill>
            <a:srgbClr val="27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96" name="TextBox 10"/>
          <p:cNvSpPr txBox="1"/>
          <p:nvPr/>
        </p:nvSpPr>
        <p:spPr>
          <a:xfrm>
            <a:off x="6016752" y="2121408"/>
            <a:ext cx="2002536" cy="640080"/>
          </a:xfrm>
          <a:prstGeom prst="rect"/>
          <a:noFill/>
        </p:spPr>
        <p:txBody>
          <a:bodyPr anchor="ctr" bIns="73152" lIns="73152" rIns="73152" tIns="73152" wrap="square">
            <a:spAutoFit/>
          </a:bodyPr>
          <a:p>
            <a:pPr algn="ctr">
              <a:spcAft>
                <a:spcPts val="700"/>
              </a:spcAft>
              <a:defRPr b="1" sz="1500">
                <a:solidFill>
                  <a:srgbClr val="FFFFFF"/>
                </a:solidFill>
                <a:latin typeface="Aptos"/>
              </a:defRPr>
            </a:pPr>
            <a:r>
              <a:t>Auto-Scaling</a:t>
            </a:r>
          </a:p>
          <a:p>
            <a:pPr algn="ctr">
              <a:spcAft>
                <a:spcPts val="700"/>
              </a:spcAft>
              <a:defRPr b="1" sz="1500">
                <a:solidFill>
                  <a:srgbClr val="FFFFFF"/>
                </a:solidFill>
                <a:latin typeface="Aptos"/>
              </a:defRPr>
            </a:pPr>
            <a:r>
              <a:t>Web Instances</a:t>
            </a:r>
          </a:p>
        </p:txBody>
      </p:sp>
      <p:sp>
        <p:nvSpPr>
          <p:cNvPr id="1048797" name="Rounded Rectangle 11"/>
          <p:cNvSpPr/>
          <p:nvPr/>
        </p:nvSpPr>
        <p:spPr>
          <a:xfrm>
            <a:off x="8778240" y="2011680"/>
            <a:ext cx="2286000" cy="822960"/>
          </a:xfrm>
          <a:prstGeom prst="roundRect"/>
          <a:solidFill>
            <a:srgbClr val="ED9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98" name="TextBox 12"/>
          <p:cNvSpPr txBox="1"/>
          <p:nvPr/>
        </p:nvSpPr>
        <p:spPr>
          <a:xfrm>
            <a:off x="8851392" y="2121408"/>
            <a:ext cx="2139696" cy="640080"/>
          </a:xfrm>
          <a:prstGeom prst="rect"/>
          <a:noFill/>
        </p:spPr>
        <p:txBody>
          <a:bodyPr anchor="ctr" bIns="73152" lIns="73152" rIns="73152" tIns="73152" wrap="square">
            <a:spAutoFit/>
          </a:bodyPr>
          <a:p>
            <a:pPr algn="ctr">
              <a:spcAft>
                <a:spcPts val="700"/>
              </a:spcAft>
              <a:defRPr b="1" sz="1500">
                <a:solidFill>
                  <a:srgbClr val="FFFFFF"/>
                </a:solidFill>
                <a:latin typeface="Aptos"/>
              </a:defRPr>
            </a:pPr>
            <a:r>
              <a:t>Database &amp; Storage</a:t>
            </a:r>
          </a:p>
        </p:txBody>
      </p:sp>
      <p:sp>
        <p:nvSpPr>
          <p:cNvPr id="1048799" name="Right Arrow 13"/>
          <p:cNvSpPr/>
          <p:nvPr/>
        </p:nvSpPr>
        <p:spPr>
          <a:xfrm>
            <a:off x="2743200" y="2267712"/>
            <a:ext cx="384048" cy="292608"/>
          </a:xfrm>
          <a:prstGeom prst="rightArrow"/>
          <a:solidFill>
            <a:srgbClr val="0E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00" name="Right Arrow 14"/>
          <p:cNvSpPr/>
          <p:nvPr/>
        </p:nvSpPr>
        <p:spPr>
          <a:xfrm>
            <a:off x="5349240" y="2267712"/>
            <a:ext cx="384048" cy="292608"/>
          </a:xfrm>
          <a:prstGeom prst="rightArrow"/>
          <a:solidFill>
            <a:srgbClr val="0E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01" name="Right Arrow 15"/>
          <p:cNvSpPr/>
          <p:nvPr/>
        </p:nvSpPr>
        <p:spPr>
          <a:xfrm>
            <a:off x="8092440" y="2267712"/>
            <a:ext cx="384048" cy="292608"/>
          </a:xfrm>
          <a:prstGeom prst="rightArrow"/>
          <a:solidFill>
            <a:srgbClr val="0E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02" name="TextBox 16"/>
          <p:cNvSpPr txBox="1"/>
          <p:nvPr/>
        </p:nvSpPr>
        <p:spPr>
          <a:xfrm>
            <a:off x="914400" y="3657600"/>
            <a:ext cx="10332720" cy="1645920"/>
          </a:xfrm>
          <a:prstGeom prst="rect"/>
          <a:noFill/>
        </p:spPr>
        <p:txBody>
          <a:bodyPr bIns="73152" tIns="73152" wrap="square">
            <a:spAutoFit/>
          </a:bodyPr>
          <a:p>
            <a:pPr>
              <a:spcAft>
                <a:spcPts val="1000"/>
              </a:spcAft>
              <a:defRPr sz="1700">
                <a:solidFill>
                  <a:srgbClr val="263345"/>
                </a:solidFill>
                <a:latin typeface="Aptos"/>
              </a:defRPr>
            </a:pPr>
            <a:r>
              <a:t>Designed a cloud-based architecture for a scalable web application.</a:t>
            </a:r>
          </a:p>
          <a:p>
            <a:pPr>
              <a:spcAft>
                <a:spcPts val="1000"/>
              </a:spcAft>
              <a:defRPr sz="1700">
                <a:solidFill>
                  <a:srgbClr val="263345"/>
                </a:solidFill>
                <a:latin typeface="Aptos"/>
              </a:defRPr>
            </a:pPr>
            <a:r>
              <a:t>Included load balancing, auto-scaling, storage and security components.</a:t>
            </a:r>
          </a:p>
          <a:p>
            <a:pPr>
              <a:spcAft>
                <a:spcPts val="1000"/>
              </a:spcAft>
              <a:defRPr sz="1700">
                <a:solidFill>
                  <a:srgbClr val="263345"/>
                </a:solidFill>
                <a:latin typeface="Aptos"/>
              </a:defRPr>
            </a:pPr>
            <a:r>
              <a:t>The report says the architecture was documented as part of the mini project.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52" name=""/>
        <p:cNvGrpSpPr/>
        <p:nvPr/>
      </p:nvGrpSpPr>
      <p:grpSpPr>
        <a:xfrm/>
      </p:grpSpPr>
      <p:sp>
        <p:nvSpPr>
          <p:cNvPr id="1048803" name="TextBox 1"/>
          <p:cNvSpPr txBox="1"/>
          <p:nvPr/>
        </p:nvSpPr>
        <p:spPr>
          <a:xfrm>
            <a:off x="594360" y="320040"/>
            <a:ext cx="10972800" cy="548640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2800">
                <a:solidFill>
                  <a:srgbClr val="0E1F3A"/>
                </a:solidFill>
                <a:latin typeface="Aptos"/>
              </a:defRPr>
            </a:pPr>
            <a:r>
              <a:t>Capstone Project: Secure, Scalable Cloud Design</a:t>
            </a:r>
          </a:p>
        </p:txBody>
      </p:sp>
      <p:sp>
        <p:nvSpPr>
          <p:cNvPr id="1048804" name="Rectangle 2"/>
          <p:cNvSpPr/>
          <p:nvPr/>
        </p:nvSpPr>
        <p:spPr>
          <a:xfrm>
            <a:off x="621792" y="987552"/>
            <a:ext cx="1051560" cy="50292"/>
          </a:xfrm>
          <a:prstGeom prst="rect"/>
          <a:solidFill>
            <a:srgbClr val="3D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05" name="TextBox 3"/>
          <p:cNvSpPr txBox="1"/>
          <p:nvPr/>
        </p:nvSpPr>
        <p:spPr>
          <a:xfrm>
            <a:off x="621792" y="1078992"/>
            <a:ext cx="10881360" cy="384048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Design decisions documented in the internship report</a:t>
            </a:r>
          </a:p>
        </p:txBody>
      </p:sp>
      <p:sp>
        <p:nvSpPr>
          <p:cNvPr id="1048806" name="TextBox 4"/>
          <p:cNvSpPr txBox="1"/>
          <p:nvPr/>
        </p:nvSpPr>
        <p:spPr>
          <a:xfrm>
            <a:off x="621792" y="6510528"/>
            <a:ext cx="10972800" cy="201168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800">
                <a:solidFill>
                  <a:srgbClr val="5B6C80"/>
                </a:solidFill>
                <a:latin typeface="Aptos"/>
              </a:defRPr>
            </a:pPr>
            <a:r>
              <a:t>CLOUD COMPUTING  •  SUMMER INTERNSHIP                                      18</a:t>
            </a:r>
          </a:p>
        </p:txBody>
      </p:sp>
      <p:graphicFrame>
        <p:nvGraphicFramePr>
          <p:cNvPr id="4194305" name="Table 5"/>
          <p:cNvGraphicFramePr>
            <a:graphicFrameLocks noGrp="1"/>
          </p:cNvGraphicFramePr>
          <p:nvPr/>
        </p:nvGraphicFramePr>
        <p:xfrm>
          <a:off x="640080" y="1600200"/>
          <a:ext cx="1092708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572000"/>
                <a:gridCol w="4343400"/>
              </a:tblGrid>
              <a:tr h="620485">
                <a:tc>
                  <a:txBody>
                    <a:bodyPr/>
                    <a:p>
                      <a:pPr algn="l">
                        <a:defRPr b="1" sz="12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Requirement</a:t>
                      </a:r>
                    </a:p>
                  </a:txBody>
                  <a:tcPr marL="73152" marR="73152" marT="27432" marB="27432">
                    <a:solidFill>
                      <a:srgbClr val="0E1F3A"/>
                    </a:solidFill>
                  </a:tcPr>
                </a:tc>
                <a:tc>
                  <a:txBody>
                    <a:bodyPr/>
                    <a:p>
                      <a:pPr algn="l">
                        <a:defRPr b="1" sz="12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Design approach</a:t>
                      </a:r>
                    </a:p>
                  </a:txBody>
                  <a:tcPr marL="73152" marR="73152" marT="27432" marB="27432">
                    <a:solidFill>
                      <a:srgbClr val="0E1F3A"/>
                    </a:solidFill>
                  </a:tcPr>
                </a:tc>
                <a:tc>
                  <a:txBody>
                    <a:bodyPr/>
                    <a:p>
                      <a:pPr algn="l">
                        <a:defRPr b="1" sz="12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Services named in report</a:t>
                      </a:r>
                    </a:p>
                  </a:txBody>
                  <a:tcPr marL="73152" marR="73152" marT="27432" marB="27432">
                    <a:solidFill>
                      <a:srgbClr val="0E1F3A"/>
                    </a:solidFill>
                  </a:tcPr>
                </a:tc>
              </a:tr>
              <a:tr h="620485">
                <a:tc>
                  <a:txBody>
                    <a:bodyPr/>
                    <a:p>
                      <a:pPr algn="l">
                        <a:defRPr b="0" sz="1100">
                          <a:solidFill>
                            <a:srgbClr val="263345"/>
                          </a:solidFill>
                          <a:latin typeface="Aptos"/>
                        </a:defRPr>
                      </a:pPr>
                      <a:r>
                        <a:t>High availability</a:t>
                      </a:r>
                    </a:p>
                  </a:txBody>
                  <a:tcPr marL="73152" marR="73152" marT="27432" marB="27432">
                    <a:solidFill>
                      <a:srgbClr val="EBF4FC"/>
                    </a:solidFill>
                  </a:tcPr>
                </a:tc>
                <a:tc>
                  <a:txBody>
                    <a:bodyPr/>
                    <a:p>
                      <a:pPr algn="l">
                        <a:defRPr b="0" sz="1100">
                          <a:solidFill>
                            <a:srgbClr val="263345"/>
                          </a:solidFill>
                          <a:latin typeface="Aptos"/>
                        </a:defRPr>
                      </a:pPr>
                      <a:r>
                        <a:t>Two availability zones and load balancing</a:t>
                      </a:r>
                    </a:p>
                  </a:txBody>
                  <a:tcPr marL="73152" marR="73152" marT="27432" marB="27432">
                    <a:solidFill>
                      <a:srgbClr val="EBF4FC"/>
                    </a:solidFill>
                  </a:tcPr>
                </a:tc>
                <a:tc>
                  <a:txBody>
                    <a:bodyPr/>
                    <a:p>
                      <a:pPr algn="l">
                        <a:defRPr b="0" sz="1100">
                          <a:solidFill>
                            <a:srgbClr val="263345"/>
                          </a:solidFill>
                          <a:latin typeface="Aptos"/>
                        </a:defRPr>
                      </a:pPr>
                      <a:r>
                        <a:t>Elastic Load Balancer, Auto Scaling</a:t>
                      </a:r>
                    </a:p>
                  </a:txBody>
                  <a:tcPr marL="73152" marR="73152" marT="27432" marB="27432">
                    <a:solidFill>
                      <a:srgbClr val="EBF4FC"/>
                    </a:solidFill>
                  </a:tcPr>
                </a:tc>
              </a:tr>
              <a:tr h="620485">
                <a:tc>
                  <a:txBody>
                    <a:bodyPr/>
                    <a:p>
                      <a:pPr algn="l">
                        <a:defRPr b="0" sz="1100">
                          <a:solidFill>
                            <a:srgbClr val="263345"/>
                          </a:solidFill>
                          <a:latin typeface="Aptos"/>
                        </a:defRPr>
                      </a:pPr>
                      <a:r>
                        <a:t>Scalability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 b="0" sz="1100">
                          <a:solidFill>
                            <a:srgbClr val="263345"/>
                          </a:solidFill>
                          <a:latin typeface="Aptos"/>
                        </a:defRPr>
                      </a:pPr>
                      <a:r>
                        <a:t>Add/remove instances based on CPU load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 b="0" sz="1100">
                          <a:solidFill>
                            <a:srgbClr val="263345"/>
                          </a:solidFill>
                          <a:latin typeface="Aptos"/>
                        </a:defRPr>
                      </a:pPr>
                      <a:r>
                        <a:t>Auto Scaling Group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/>
                    <a:p>
                      <a:pPr algn="l">
                        <a:defRPr b="0" sz="1100">
                          <a:solidFill>
                            <a:srgbClr val="263345"/>
                          </a:solidFill>
                          <a:latin typeface="Aptos"/>
                        </a:defRPr>
                      </a:pPr>
                      <a:r>
                        <a:t>Security</a:t>
                      </a:r>
                    </a:p>
                  </a:txBody>
                  <a:tcPr marL="73152" marR="73152" marT="27432" marB="27432">
                    <a:solidFill>
                      <a:srgbClr val="EBF4FC"/>
                    </a:solidFill>
                  </a:tcPr>
                </a:tc>
                <a:tc>
                  <a:txBody>
                    <a:bodyPr/>
                    <a:p>
                      <a:pPr algn="l">
                        <a:defRPr b="0" sz="1100">
                          <a:solidFill>
                            <a:srgbClr val="263345"/>
                          </a:solidFill>
                          <a:latin typeface="Aptos"/>
                        </a:defRPr>
                      </a:pPr>
                      <a:r>
                        <a:t>Private subnets, least privilege and encryption</a:t>
                      </a:r>
                    </a:p>
                  </a:txBody>
                  <a:tcPr marL="73152" marR="73152" marT="27432" marB="27432">
                    <a:solidFill>
                      <a:srgbClr val="EBF4FC"/>
                    </a:solidFill>
                  </a:tcPr>
                </a:tc>
                <a:tc>
                  <a:txBody>
                    <a:bodyPr/>
                    <a:p>
                      <a:pPr algn="l">
                        <a:defRPr b="0" sz="1100">
                          <a:solidFill>
                            <a:srgbClr val="263345"/>
                          </a:solidFill>
                          <a:latin typeface="Aptos"/>
                        </a:defRPr>
                      </a:pPr>
                      <a:r>
                        <a:t>VPC, IAM, KMS, security groups</a:t>
                      </a:r>
                    </a:p>
                  </a:txBody>
                  <a:tcPr marL="73152" marR="73152" marT="27432" marB="27432">
                    <a:solidFill>
                      <a:srgbClr val="EBF4FC"/>
                    </a:solidFill>
                  </a:tcPr>
                </a:tc>
              </a:tr>
              <a:tr h="620485">
                <a:tc>
                  <a:txBody>
                    <a:bodyPr/>
                    <a:p>
                      <a:pPr algn="l">
                        <a:defRPr b="0" sz="1100">
                          <a:solidFill>
                            <a:srgbClr val="263345"/>
                          </a:solidFill>
                          <a:latin typeface="Aptos"/>
                        </a:defRPr>
                      </a:pPr>
                      <a:r>
                        <a:t>Durability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 b="0" sz="1100">
                          <a:solidFill>
                            <a:srgbClr val="263345"/>
                          </a:solidFill>
                          <a:latin typeface="Aptos"/>
                        </a:defRPr>
                      </a:pPr>
                      <a:r>
                        <a:t>Multi-AZ database and versioned object storage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 b="0" sz="1100">
                          <a:solidFill>
                            <a:srgbClr val="263345"/>
                          </a:solidFill>
                          <a:latin typeface="Aptos"/>
                        </a:defRPr>
                      </a:pPr>
                      <a:r>
                        <a:t>RDS, S3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/>
                    <a:p>
                      <a:pPr algn="l">
                        <a:defRPr b="0" sz="1100">
                          <a:solidFill>
                            <a:srgbClr val="263345"/>
                          </a:solidFill>
                          <a:latin typeface="Aptos"/>
                        </a:defRPr>
                      </a:pPr>
                      <a:r>
                        <a:t>Observability</a:t>
                      </a:r>
                    </a:p>
                  </a:txBody>
                  <a:tcPr marL="73152" marR="73152" marT="27432" marB="27432">
                    <a:solidFill>
                      <a:srgbClr val="EBF4FC"/>
                    </a:solidFill>
                  </a:tcPr>
                </a:tc>
                <a:tc>
                  <a:txBody>
                    <a:bodyPr/>
                    <a:p>
                      <a:pPr algn="l">
                        <a:defRPr b="0" sz="1100">
                          <a:solidFill>
                            <a:srgbClr val="263345"/>
                          </a:solidFill>
                          <a:latin typeface="Aptos"/>
                        </a:defRPr>
                      </a:pPr>
                      <a:r>
                        <a:t>Central metrics, logs and alarms</a:t>
                      </a:r>
                    </a:p>
                  </a:txBody>
                  <a:tcPr marL="73152" marR="73152" marT="27432" marB="27432">
                    <a:solidFill>
                      <a:srgbClr val="EBF4FC"/>
                    </a:solidFill>
                  </a:tcPr>
                </a:tc>
                <a:tc>
                  <a:txBody>
                    <a:bodyPr/>
                    <a:p>
                      <a:pPr algn="l">
                        <a:defRPr b="0" sz="1100">
                          <a:solidFill>
                            <a:srgbClr val="263345"/>
                          </a:solidFill>
                          <a:latin typeface="Aptos"/>
                        </a:defRPr>
                      </a:pPr>
                      <a:r>
                        <a:t>CloudWatch</a:t>
                      </a:r>
                    </a:p>
                  </a:txBody>
                  <a:tcPr marL="73152" marR="73152" marT="27432" marB="27432">
                    <a:solidFill>
                      <a:srgbClr val="EBF4FC"/>
                    </a:solidFill>
                  </a:tcPr>
                </a:tc>
              </a:tr>
              <a:tr h="620490">
                <a:tc>
                  <a:txBody>
                    <a:bodyPr/>
                    <a:p>
                      <a:pPr algn="l">
                        <a:defRPr b="0" sz="1100">
                          <a:solidFill>
                            <a:srgbClr val="263345"/>
                          </a:solidFill>
                          <a:latin typeface="Aptos"/>
                        </a:defRPr>
                      </a:pPr>
                      <a:r>
                        <a:t>Cost control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 b="0" sz="1100">
                          <a:solidFill>
                            <a:srgbClr val="263345"/>
                          </a:solidFill>
                          <a:latin typeface="Aptos"/>
                        </a:defRPr>
                      </a:pPr>
                      <a:r>
                        <a:t>Right-sized instances, budgets and alerts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>
                        <a:defRPr b="0" sz="1100">
                          <a:solidFill>
                            <a:srgbClr val="263345"/>
                          </a:solidFill>
                          <a:latin typeface="Aptos"/>
                        </a:defRPr>
                      </a:pPr>
                      <a:r>
                        <a:t>Cost Explorer, Budgets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53" name=""/>
        <p:cNvGrpSpPr/>
        <p:nvPr/>
      </p:nvGrpSpPr>
      <p:grpSpPr>
        <a:xfrm/>
      </p:grpSpPr>
      <p:sp>
        <p:nvSpPr>
          <p:cNvPr id="1048807" name="TextBox 1"/>
          <p:cNvSpPr txBox="1"/>
          <p:nvPr/>
        </p:nvSpPr>
        <p:spPr>
          <a:xfrm>
            <a:off x="594360" y="320040"/>
            <a:ext cx="10972800" cy="548640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2800">
                <a:solidFill>
                  <a:srgbClr val="0E1F3A"/>
                </a:solidFill>
                <a:latin typeface="Aptos"/>
              </a:defRPr>
            </a:pPr>
            <a:r>
              <a:t>Learning Outcomes</a:t>
            </a:r>
          </a:p>
        </p:txBody>
      </p:sp>
      <p:sp>
        <p:nvSpPr>
          <p:cNvPr id="1048808" name="Rectangle 2"/>
          <p:cNvSpPr/>
          <p:nvPr/>
        </p:nvSpPr>
        <p:spPr>
          <a:xfrm>
            <a:off x="621792" y="987552"/>
            <a:ext cx="1051560" cy="50292"/>
          </a:xfrm>
          <a:prstGeom prst="rect"/>
          <a:solidFill>
            <a:srgbClr val="3D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09" name="TextBox 3"/>
          <p:cNvSpPr txBox="1"/>
          <p:nvPr/>
        </p:nvSpPr>
        <p:spPr>
          <a:xfrm>
            <a:off x="621792" y="1078992"/>
            <a:ext cx="10881360" cy="384048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Technical and professional skills developed</a:t>
            </a:r>
          </a:p>
        </p:txBody>
      </p:sp>
      <p:sp>
        <p:nvSpPr>
          <p:cNvPr id="1048810" name="TextBox 4"/>
          <p:cNvSpPr txBox="1"/>
          <p:nvPr/>
        </p:nvSpPr>
        <p:spPr>
          <a:xfrm>
            <a:off x="621792" y="6510528"/>
            <a:ext cx="10972800" cy="201168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800">
                <a:solidFill>
                  <a:srgbClr val="5B6C80"/>
                </a:solidFill>
                <a:latin typeface="Aptos"/>
              </a:defRPr>
            </a:pPr>
            <a:r>
              <a:t>CLOUD COMPUTING  •  SUMMER INTERNSHIP                                      19</a:t>
            </a:r>
          </a:p>
        </p:txBody>
      </p:sp>
      <p:sp>
        <p:nvSpPr>
          <p:cNvPr id="1048811" name="Rounded Rectangle 5"/>
          <p:cNvSpPr/>
          <p:nvPr/>
        </p:nvSpPr>
        <p:spPr>
          <a:xfrm>
            <a:off x="731520" y="1737360"/>
            <a:ext cx="3474720" cy="2057400"/>
          </a:xfrm>
          <a:prstGeom prst="roundRect"/>
          <a:solidFill>
            <a:srgbClr val="FFFFFF"/>
          </a:solidFill>
          <a:ln>
            <a:solidFill>
              <a:srgbClr val="D2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12" name="Rectangle 6"/>
          <p:cNvSpPr/>
          <p:nvPr/>
        </p:nvSpPr>
        <p:spPr>
          <a:xfrm>
            <a:off x="731520" y="1737360"/>
            <a:ext cx="82296" cy="2057400"/>
          </a:xfrm>
          <a:prstGeom prst="rect"/>
          <a:solidFill>
            <a:srgbClr val="23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13" name="TextBox 7"/>
          <p:cNvSpPr txBox="1"/>
          <p:nvPr/>
        </p:nvSpPr>
        <p:spPr>
          <a:xfrm>
            <a:off x="932688" y="1883664"/>
            <a:ext cx="3127248" cy="347472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1700">
                <a:solidFill>
                  <a:srgbClr val="0E1F3A"/>
                </a:solidFill>
                <a:latin typeface="Aptos"/>
              </a:defRPr>
            </a:pPr>
            <a:r>
              <a:t>Cloud Infrastructure</a:t>
            </a:r>
          </a:p>
        </p:txBody>
      </p:sp>
      <p:sp>
        <p:nvSpPr>
          <p:cNvPr id="1048814" name="TextBox 8"/>
          <p:cNvSpPr txBox="1"/>
          <p:nvPr/>
        </p:nvSpPr>
        <p:spPr>
          <a:xfrm>
            <a:off x="932688" y="2304288"/>
            <a:ext cx="3108960" cy="1399032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Service models, VMs, containers, storage and VPC networking.</a:t>
            </a:r>
          </a:p>
        </p:txBody>
      </p:sp>
      <p:sp>
        <p:nvSpPr>
          <p:cNvPr id="1048815" name="Rounded Rectangle 9"/>
          <p:cNvSpPr/>
          <p:nvPr/>
        </p:nvSpPr>
        <p:spPr>
          <a:xfrm>
            <a:off x="4389120" y="1737360"/>
            <a:ext cx="3474720" cy="2057400"/>
          </a:xfrm>
          <a:prstGeom prst="roundRect"/>
          <a:solidFill>
            <a:srgbClr val="FFFFFF"/>
          </a:solidFill>
          <a:ln>
            <a:solidFill>
              <a:srgbClr val="D2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16" name="Rectangle 10"/>
          <p:cNvSpPr/>
          <p:nvPr/>
        </p:nvSpPr>
        <p:spPr>
          <a:xfrm>
            <a:off x="4389120" y="1737360"/>
            <a:ext cx="82296" cy="2057400"/>
          </a:xfrm>
          <a:prstGeom prst="rect"/>
          <a:solidFill>
            <a:srgbClr val="3D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17" name="TextBox 11"/>
          <p:cNvSpPr txBox="1"/>
          <p:nvPr/>
        </p:nvSpPr>
        <p:spPr>
          <a:xfrm>
            <a:off x="4590288" y="1883664"/>
            <a:ext cx="3127248" cy="347472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1700">
                <a:solidFill>
                  <a:srgbClr val="0E1F3A"/>
                </a:solidFill>
                <a:latin typeface="Aptos"/>
              </a:defRPr>
            </a:pPr>
            <a:r>
              <a:t>Security &amp; Reliability</a:t>
            </a:r>
          </a:p>
        </p:txBody>
      </p:sp>
      <p:sp>
        <p:nvSpPr>
          <p:cNvPr id="1048818" name="TextBox 12"/>
          <p:cNvSpPr txBox="1"/>
          <p:nvPr/>
        </p:nvSpPr>
        <p:spPr>
          <a:xfrm>
            <a:off x="4590288" y="2304288"/>
            <a:ext cx="3108960" cy="1399032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IAM, MFA, encryption, auto-scaling and disaster recovery.</a:t>
            </a:r>
          </a:p>
        </p:txBody>
      </p:sp>
      <p:sp>
        <p:nvSpPr>
          <p:cNvPr id="1048819" name="Rounded Rectangle 13"/>
          <p:cNvSpPr/>
          <p:nvPr/>
        </p:nvSpPr>
        <p:spPr>
          <a:xfrm>
            <a:off x="8046720" y="1737360"/>
            <a:ext cx="3474720" cy="2057400"/>
          </a:xfrm>
          <a:prstGeom prst="roundRect"/>
          <a:solidFill>
            <a:srgbClr val="FFFFFF"/>
          </a:solidFill>
          <a:ln>
            <a:solidFill>
              <a:srgbClr val="D2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20" name="Rectangle 14"/>
          <p:cNvSpPr/>
          <p:nvPr/>
        </p:nvSpPr>
        <p:spPr>
          <a:xfrm>
            <a:off x="8046720" y="1737360"/>
            <a:ext cx="82296" cy="2057400"/>
          </a:xfrm>
          <a:prstGeom prst="rect"/>
          <a:solidFill>
            <a:srgbClr val="27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21" name="TextBox 15"/>
          <p:cNvSpPr txBox="1"/>
          <p:nvPr/>
        </p:nvSpPr>
        <p:spPr>
          <a:xfrm>
            <a:off x="8247888" y="1883664"/>
            <a:ext cx="3127248" cy="347472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1700">
                <a:solidFill>
                  <a:srgbClr val="0E1F3A"/>
                </a:solidFill>
                <a:latin typeface="Aptos"/>
              </a:defRPr>
            </a:pPr>
            <a:r>
              <a:t>Automation &amp; Data</a:t>
            </a:r>
          </a:p>
        </p:txBody>
      </p:sp>
      <p:sp>
        <p:nvSpPr>
          <p:cNvPr id="1048822" name="TextBox 16"/>
          <p:cNvSpPr txBox="1"/>
          <p:nvPr/>
        </p:nvSpPr>
        <p:spPr>
          <a:xfrm>
            <a:off x="8247888" y="2304288"/>
            <a:ext cx="3108960" cy="1399032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5B6C80"/>
                </a:solidFill>
                <a:latin typeface="Aptos"/>
              </a:defRPr>
            </a:pPr>
            <a:r>
              <a:t>CI/CD, IaC, Kubernetes, APIs, databases and cost optimization.</a:t>
            </a:r>
          </a:p>
        </p:txBody>
      </p:sp>
      <p:sp>
        <p:nvSpPr>
          <p:cNvPr id="1048823" name="TextBox 17"/>
          <p:cNvSpPr txBox="1"/>
          <p:nvPr/>
        </p:nvSpPr>
        <p:spPr>
          <a:xfrm>
            <a:off x="914400" y="4389120"/>
            <a:ext cx="10424160" cy="914400"/>
          </a:xfrm>
          <a:prstGeom prst="rect"/>
          <a:noFill/>
        </p:spPr>
        <p:txBody>
          <a:bodyPr bIns="73152" tIns="73152" wrap="square">
            <a:spAutoFit/>
          </a:bodyPr>
          <a:p>
            <a:pPr>
              <a:spcAft>
                <a:spcPts val="800"/>
              </a:spcAft>
              <a:defRPr sz="1700">
                <a:solidFill>
                  <a:srgbClr val="263345"/>
                </a:solidFill>
                <a:latin typeface="Aptos"/>
              </a:defRPr>
            </a:pPr>
            <a:r>
              <a:t>Professional skills: planning tasks, documenting architectures, comparing alternatives and learning from provider documentation.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F3A"/>
        </a:solidFill>
        <a:effectLst/>
      </p:bgPr>
    </p:bg>
    <p:spTree>
      <p:nvGrpSpPr>
        <p:cNvPr id="54" name=""/>
        <p:cNvGrpSpPr/>
        <p:nvPr/>
      </p:nvGrpSpPr>
      <p:grpSpPr>
        <a:xfrm/>
      </p:grpSpPr>
      <p:sp>
        <p:nvSpPr>
          <p:cNvPr id="1048824" name="TextBox 1"/>
          <p:cNvSpPr txBox="1"/>
          <p:nvPr/>
        </p:nvSpPr>
        <p:spPr>
          <a:xfrm>
            <a:off x="594360" y="320040"/>
            <a:ext cx="10972800" cy="548640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2800">
                <a:solidFill>
                  <a:srgbClr val="FFFFFF"/>
                </a:solidFill>
                <a:latin typeface="Aptos"/>
              </a:defRPr>
            </a:pPr>
            <a:r>
              <a:t>Conclusion &amp; References</a:t>
            </a:r>
          </a:p>
        </p:txBody>
      </p:sp>
      <p:sp>
        <p:nvSpPr>
          <p:cNvPr id="1048825" name="Rectangle 2"/>
          <p:cNvSpPr/>
          <p:nvPr/>
        </p:nvSpPr>
        <p:spPr>
          <a:xfrm>
            <a:off x="621792" y="987552"/>
            <a:ext cx="1051560" cy="50292"/>
          </a:xfrm>
          <a:prstGeom prst="rect"/>
          <a:solidFill>
            <a:srgbClr val="3DC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26" name="TextBox 3"/>
          <p:cNvSpPr txBox="1"/>
          <p:nvPr/>
        </p:nvSpPr>
        <p:spPr>
          <a:xfrm>
            <a:off x="621792" y="1078992"/>
            <a:ext cx="10881360" cy="384048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200">
                <a:solidFill>
                  <a:srgbClr val="EBF4FC"/>
                </a:solidFill>
                <a:latin typeface="Aptos"/>
              </a:defRPr>
            </a:pPr>
            <a:r>
              <a:t>Summary of the internship experience</a:t>
            </a:r>
          </a:p>
        </p:txBody>
      </p:sp>
      <p:sp>
        <p:nvSpPr>
          <p:cNvPr id="1048827" name="TextBox 4"/>
          <p:cNvSpPr txBox="1"/>
          <p:nvPr/>
        </p:nvSpPr>
        <p:spPr>
          <a:xfrm>
            <a:off x="822960" y="1691640"/>
            <a:ext cx="10607040" cy="1920240"/>
          </a:xfrm>
          <a:prstGeom prst="rect"/>
          <a:noFill/>
        </p:spPr>
        <p:txBody>
          <a:bodyPr bIns="73152" tIns="73152" wrap="square">
            <a:spAutoFit/>
          </a:bodyPr>
          <a:p>
            <a:pPr>
              <a:spcAft>
                <a:spcPts val="1000"/>
              </a:spcAft>
              <a:defRPr sz="1700">
                <a:solidFill>
                  <a:srgbClr val="EBF4FC"/>
                </a:solidFill>
                <a:latin typeface="Aptos"/>
              </a:defRPr>
            </a:pPr>
            <a:r>
              <a:t>The 30-day internship covered cloud fundamentals through advanced cloud-native topics.</a:t>
            </a:r>
          </a:p>
          <a:p>
            <a:pPr>
              <a:spcAft>
                <a:spcPts val="1000"/>
              </a:spcAft>
              <a:defRPr sz="1700">
                <a:solidFill>
                  <a:srgbClr val="EBF4FC"/>
                </a:solidFill>
                <a:latin typeface="Aptos"/>
              </a:defRPr>
            </a:pPr>
            <a:r>
              <a:t>It strengthened understanding of cloud infrastructure, security, automation, monitoring and cost control.</a:t>
            </a:r>
          </a:p>
          <a:p>
            <a:pPr>
              <a:spcAft>
                <a:spcPts val="1000"/>
              </a:spcAft>
              <a:defRPr sz="1700">
                <a:solidFill>
                  <a:srgbClr val="EBF4FC"/>
                </a:solidFill>
                <a:latin typeface="Aptos"/>
              </a:defRPr>
            </a:pPr>
            <a:r>
              <a:t>The mini project and capstone brought the concepts together in a scalable and secure architecture.</a:t>
            </a:r>
          </a:p>
        </p:txBody>
      </p:sp>
      <p:sp>
        <p:nvSpPr>
          <p:cNvPr id="1048828" name="TextBox 5"/>
          <p:cNvSpPr txBox="1"/>
          <p:nvPr/>
        </p:nvSpPr>
        <p:spPr>
          <a:xfrm>
            <a:off x="868680" y="3977639"/>
            <a:ext cx="1828800" cy="320040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1700">
                <a:solidFill>
                  <a:srgbClr val="3DC4D2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1048829" name="TextBox 6"/>
          <p:cNvSpPr txBox="1"/>
          <p:nvPr/>
        </p:nvSpPr>
        <p:spPr>
          <a:xfrm>
            <a:off x="868680" y="4389120"/>
            <a:ext cx="10607040" cy="731520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1300">
                <a:solidFill>
                  <a:srgbClr val="EBF4FC"/>
                </a:solidFill>
                <a:latin typeface="Aptos"/>
              </a:defRPr>
            </a:pPr>
            <a:r>
              <a:t>AWS Documentation  •  Microsoft Azure Documentation  •  Google Cloud Documentation</a:t>
            </a:r>
          </a:p>
          <a:p>
            <a:pPr>
              <a:spcAft>
                <a:spcPts val="700"/>
              </a:spcAft>
              <a:defRPr b="0" sz="1300">
                <a:solidFill>
                  <a:srgbClr val="EBF4FC"/>
                </a:solidFill>
                <a:latin typeface="Aptos"/>
              </a:defRPr>
            </a:pPr>
            <a:r>
              <a:t>Kubernetes Documentation  •  Terraform Documentation  •  Docker Documentation</a:t>
            </a:r>
          </a:p>
        </p:txBody>
      </p:sp>
      <p:sp>
        <p:nvSpPr>
          <p:cNvPr id="1048830" name="TextBox 7"/>
          <p:cNvSpPr txBox="1"/>
          <p:nvPr/>
        </p:nvSpPr>
        <p:spPr>
          <a:xfrm>
            <a:off x="868680" y="5486400"/>
            <a:ext cx="3657600" cy="548640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1" sz="2700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048831" name="TextBox 8"/>
          <p:cNvSpPr txBox="1"/>
          <p:nvPr/>
        </p:nvSpPr>
        <p:spPr>
          <a:xfrm>
            <a:off x="621792" y="6510528"/>
            <a:ext cx="10972800" cy="201168"/>
          </a:xfrm>
          <a:prstGeom prst="rect"/>
          <a:noFill/>
        </p:spPr>
        <p:txBody>
          <a:bodyPr anchor="t" bIns="73152" lIns="73152" rIns="73152" tIns="73152" wrap="square">
            <a:spAutoFit/>
          </a:bodyPr>
          <a:p>
            <a:pPr>
              <a:spcAft>
                <a:spcPts val="700"/>
              </a:spcAft>
              <a:defRPr b="0" sz="800">
                <a:solidFill>
                  <a:srgbClr val="BECFE2"/>
                </a:solidFill>
                <a:latin typeface="Aptos"/>
              </a:defRPr>
            </a:pPr>
            <a:r>
              <a:t>CLOUD COMPUTING  •  SUMMER INTERNSHIP                                     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Macintosh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SM-A146B</dc:creator>
  <cp:lastModifiedBy>Steve Canny</cp:lastModifiedBy>
  <dcterms:created xsi:type="dcterms:W3CDTF">2013-01-26T11:14:16Z</dcterms:created>
  <dcterms:modified xsi:type="dcterms:W3CDTF">2026-10-21T15:48:32Z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4b929ef30b3f4136bbd82e0d7686f4dc_23</vt:lpwstr>
  </property>
</Properties>
</file>